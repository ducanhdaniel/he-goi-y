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726" r:id="rId7"/>
    <p:sldMasterId id="2147483739" r:id="rId8"/>
  </p:sldMasterIdLst>
  <p:notesMasterIdLst>
    <p:notesMasterId r:id="rId25"/>
  </p:notesMasterIdLst>
  <p:sldIdLst>
    <p:sldId id="257" r:id="rId9"/>
    <p:sldId id="265" r:id="rId10"/>
    <p:sldId id="266" r:id="rId11"/>
    <p:sldId id="267" r:id="rId12"/>
    <p:sldId id="268" r:id="rId13"/>
    <p:sldId id="269" r:id="rId14"/>
    <p:sldId id="281" r:id="rId15"/>
    <p:sldId id="271" r:id="rId16"/>
    <p:sldId id="272" r:id="rId17"/>
    <p:sldId id="273" r:id="rId18"/>
    <p:sldId id="275" r:id="rId19"/>
    <p:sldId id="276" r:id="rId20"/>
    <p:sldId id="277" r:id="rId21"/>
    <p:sldId id="278" r:id="rId22"/>
    <p:sldId id="279" r:id="rId23"/>
    <p:sldId id="264" r:id="rId24"/>
  </p:sldIdLst>
  <p:sldSz cx="12192000" cy="6858000"/>
  <p:notesSz cx="7559675" cy="10691813"/>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536" autoAdjust="0"/>
  </p:normalViewPr>
  <p:slideViewPr>
    <p:cSldViewPr snapToGrid="0">
      <p:cViewPr varScale="1">
        <p:scale>
          <a:sx n="55" d="100"/>
          <a:sy n="55" d="100"/>
        </p:scale>
        <p:origin x="1714"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vi-VN" sz="1400" b="1" i="0">
                <a:solidFill>
                  <a:srgbClr val="1C1C1C"/>
                </a:solidFill>
                <a:latin typeface="Arial"/>
              </a:rPr>
              <a:t>% lượt rating thuộc về x% phim phổ biến nhất</a:t>
            </a:r>
          </a:p>
        </c:rich>
      </c:tx>
      <c:overlay val="0"/>
    </c:title>
    <c:autoTitleDeleted val="0"/>
    <c:plotArea>
      <c:layout/>
      <c:scatterChart>
        <c:scatterStyle val="lineMarker"/>
        <c:varyColors val="0"/>
        <c:ser>
          <c:idx val="0"/>
          <c:order val="0"/>
          <c:tx>
            <c:strRef>
              <c:f>Sheet1!$B$1</c:f>
              <c:strCache>
                <c:ptCount val="1"/>
                <c:pt idx="0">
                  <c:v>Tích luỹ</c:v>
                </c:pt>
              </c:strCache>
            </c:strRef>
          </c:tx>
          <c:spPr>
            <a:ln w="31750">
              <a:solidFill>
                <a:srgbClr val="003366"/>
              </a:solidFill>
            </a:ln>
          </c:spPr>
          <c:marker>
            <c:symbol val="none"/>
          </c:marker>
          <c:xVal>
            <c:numRef>
              <c:f>Sheet1!$A$2:$A$15</c:f>
              <c:numCache>
                <c:formatCode>General</c:formatCode>
                <c:ptCount val="14"/>
                <c:pt idx="0">
                  <c:v>0</c:v>
                </c:pt>
                <c:pt idx="1">
                  <c:v>1</c:v>
                </c:pt>
                <c:pt idx="2">
                  <c:v>2</c:v>
                </c:pt>
                <c:pt idx="3">
                  <c:v>5</c:v>
                </c:pt>
                <c:pt idx="4">
                  <c:v>10</c:v>
                </c:pt>
                <c:pt idx="5">
                  <c:v>20</c:v>
                </c:pt>
                <c:pt idx="6">
                  <c:v>30</c:v>
                </c:pt>
                <c:pt idx="7">
                  <c:v>40</c:v>
                </c:pt>
                <c:pt idx="8">
                  <c:v>50</c:v>
                </c:pt>
                <c:pt idx="9">
                  <c:v>60</c:v>
                </c:pt>
                <c:pt idx="10">
                  <c:v>70</c:v>
                </c:pt>
                <c:pt idx="11">
                  <c:v>80</c:v>
                </c:pt>
                <c:pt idx="12">
                  <c:v>90</c:v>
                </c:pt>
                <c:pt idx="13">
                  <c:v>100</c:v>
                </c:pt>
              </c:numCache>
            </c:numRef>
          </c:xVal>
          <c:yVal>
            <c:numRef>
              <c:f>Sheet1!$B$2:$B$15</c:f>
              <c:numCache>
                <c:formatCode>General</c:formatCode>
                <c:ptCount val="14"/>
                <c:pt idx="0">
                  <c:v>0</c:v>
                </c:pt>
                <c:pt idx="1">
                  <c:v>15.7</c:v>
                </c:pt>
                <c:pt idx="2">
                  <c:v>25.1</c:v>
                </c:pt>
                <c:pt idx="3">
                  <c:v>42.7</c:v>
                </c:pt>
                <c:pt idx="4">
                  <c:v>60</c:v>
                </c:pt>
                <c:pt idx="5">
                  <c:v>77</c:v>
                </c:pt>
                <c:pt idx="6">
                  <c:v>85.5</c:v>
                </c:pt>
                <c:pt idx="7">
                  <c:v>90.5</c:v>
                </c:pt>
                <c:pt idx="8">
                  <c:v>93.7</c:v>
                </c:pt>
                <c:pt idx="9">
                  <c:v>95.7</c:v>
                </c:pt>
                <c:pt idx="10">
                  <c:v>97.1</c:v>
                </c:pt>
                <c:pt idx="11">
                  <c:v>98.1</c:v>
                </c:pt>
                <c:pt idx="12">
                  <c:v>99</c:v>
                </c:pt>
                <c:pt idx="13">
                  <c:v>100</c:v>
                </c:pt>
              </c:numCache>
            </c:numRef>
          </c:yVal>
          <c:smooth val="0"/>
          <c:extLst>
            <c:ext xmlns:c16="http://schemas.microsoft.com/office/drawing/2014/chart" uri="{C3380CC4-5D6E-409C-BE32-E72D297353CC}">
              <c16:uniqueId val="{00000000-8517-4563-AE21-D73FC34C3980}"/>
            </c:ext>
          </c:extLst>
        </c:ser>
        <c:ser>
          <c:idx val="1"/>
          <c:order val="1"/>
          <c:tx>
            <c:strRef>
              <c:f>Sheet1!$B$17</c:f>
              <c:strCache>
                <c:ptCount val="1"/>
                <c:pt idx="0">
                  <c:v>Mốc</c:v>
                </c:pt>
              </c:strCache>
            </c:strRef>
          </c:tx>
          <c:spPr>
            <a:ln>
              <a:noFill/>
            </a:ln>
          </c:spPr>
          <c:marker>
            <c:symbol val="circle"/>
            <c:size val="10"/>
            <c:spPr>
              <a:solidFill>
                <a:srgbClr val="003366"/>
              </a:solidFill>
              <a:ln>
                <a:solidFill>
                  <a:srgbClr val="003366"/>
                </a:solidFill>
              </a:ln>
            </c:spPr>
          </c:marker>
          <c:dLbls>
            <c:dLbl>
              <c:idx val="0"/>
              <c:tx>
                <c:rich>
                  <a:bodyPr/>
                  <a:lstStyle/>
                  <a:p>
                    <a:r>
                      <a:rPr lang="vi-VN" sz="1300" b="1" i="0">
                        <a:solidFill>
                          <a:srgbClr val="003366"/>
                        </a:solidFill>
                        <a:latin typeface="Arial"/>
                      </a:rPr>
                      <a:t>10% phim → 60% rating</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517-4563-AE21-D73FC34C39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Sheet1!$A$18:$A$18</c:f>
              <c:numCache>
                <c:formatCode>General</c:formatCode>
                <c:ptCount val="1"/>
                <c:pt idx="0">
                  <c:v>10</c:v>
                </c:pt>
              </c:numCache>
            </c:numRef>
          </c:xVal>
          <c:yVal>
            <c:numRef>
              <c:f>Sheet1!$B$18:$B$18</c:f>
              <c:numCache>
                <c:formatCode>General</c:formatCode>
                <c:ptCount val="1"/>
                <c:pt idx="0">
                  <c:v>60</c:v>
                </c:pt>
              </c:numCache>
            </c:numRef>
          </c:yVal>
          <c:smooth val="0"/>
          <c:extLst>
            <c:ext xmlns:c16="http://schemas.microsoft.com/office/drawing/2014/chart" uri="{C3380CC4-5D6E-409C-BE32-E72D297353CC}">
              <c16:uniqueId val="{00000002-8517-4563-AE21-D73FC34C3980}"/>
            </c:ext>
          </c:extLst>
        </c:ser>
        <c:dLbls>
          <c:showLegendKey val="0"/>
          <c:showVal val="0"/>
          <c:showCatName val="0"/>
          <c:showSerName val="0"/>
          <c:showPercent val="0"/>
          <c:showBubbleSize val="0"/>
        </c:dLbls>
        <c:axId val="-2128940872"/>
        <c:axId val="-2129643912"/>
      </c:scatterChart>
      <c:valAx>
        <c:axId val="-2128940872"/>
        <c:scaling>
          <c:orientation val="minMax"/>
          <c:max val="100"/>
          <c:min val="0"/>
        </c:scaling>
        <c:delete val="0"/>
        <c:axPos val="b"/>
        <c:numFmt formatCode="0&quot;%&quot;" sourceLinked="0"/>
        <c:majorTickMark val="out"/>
        <c:minorTickMark val="none"/>
        <c:tickLblPos val="nextTo"/>
        <c:spPr>
          <a:ln>
            <a:solidFill>
              <a:srgbClr val="C6CFDB"/>
            </a:solidFill>
          </a:ln>
        </c:spPr>
        <c:txPr>
          <a:bodyPr/>
          <a:lstStyle/>
          <a:p>
            <a:pPr>
              <a:defRPr sz="1200">
                <a:solidFill>
                  <a:srgbClr val="5F636B"/>
                </a:solidFill>
              </a:defRPr>
            </a:pPr>
            <a:endParaRPr lang="vi-VN"/>
          </a:p>
        </c:txPr>
        <c:crossAx val="-2129643912"/>
        <c:crosses val="autoZero"/>
        <c:crossBetween val="midCat"/>
        <c:majorUnit val="20"/>
      </c:valAx>
      <c:valAx>
        <c:axId val="-2129643912"/>
        <c:scaling>
          <c:orientation val="minMax"/>
          <c:max val="100"/>
          <c:min val="0"/>
        </c:scaling>
        <c:delete val="0"/>
        <c:axPos val="l"/>
        <c:majorGridlines>
          <c:spPr>
            <a:ln>
              <a:solidFill>
                <a:srgbClr val="E4E6EF"/>
              </a:solidFill>
            </a:ln>
          </c:spPr>
        </c:majorGridlines>
        <c:numFmt formatCode="0&quot;%&quot;" sourceLinked="0"/>
        <c:majorTickMark val="out"/>
        <c:minorTickMark val="none"/>
        <c:tickLblPos val="nextTo"/>
        <c:spPr>
          <a:ln>
            <a:solidFill>
              <a:srgbClr val="C6CFDB"/>
            </a:solidFill>
          </a:ln>
        </c:spPr>
        <c:txPr>
          <a:bodyPr/>
          <a:lstStyle/>
          <a:p>
            <a:pPr>
              <a:defRPr sz="1200">
                <a:solidFill>
                  <a:srgbClr val="5F636B"/>
                </a:solidFill>
              </a:defRPr>
            </a:pPr>
            <a:endParaRPr lang="vi-VN"/>
          </a:p>
        </c:txPr>
        <c:crossAx val="-2128940872"/>
        <c:crosses val="autoZero"/>
        <c:crossBetween val="midCat"/>
        <c:majorUnit val="20"/>
      </c:valAx>
    </c:plotArea>
    <c:plotVisOnly val="1"/>
    <c:dispBlanksAs val="gap"/>
    <c:showDLblsOverMax val="0"/>
  </c:chart>
  <c:txPr>
    <a:bodyPr/>
    <a:lstStyle/>
    <a:p>
      <a:pPr>
        <a:defRPr sz="1200">
          <a:solidFill>
            <a:srgbClr val="5F636B"/>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9513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Chào</a:t>
            </a:r>
            <a:r>
              <a:rPr dirty="0"/>
              <a:t> </a:t>
            </a:r>
            <a:r>
              <a:rPr dirty="0" err="1"/>
              <a:t>cô</a:t>
            </a:r>
            <a:r>
              <a:rPr dirty="0"/>
              <a:t> </a:t>
            </a:r>
            <a:r>
              <a:rPr dirty="0" err="1"/>
              <a:t>và</a:t>
            </a:r>
            <a:r>
              <a:rPr dirty="0"/>
              <a:t> </a:t>
            </a:r>
            <a:r>
              <a:rPr dirty="0" err="1"/>
              <a:t>các</a:t>
            </a:r>
            <a:r>
              <a:rPr dirty="0"/>
              <a:t> </a:t>
            </a:r>
            <a:r>
              <a:rPr dirty="0" err="1"/>
              <a:t>bạn</a:t>
            </a:r>
            <a:r>
              <a:rPr dirty="0"/>
              <a:t>. </a:t>
            </a:r>
            <a:r>
              <a:rPr dirty="0" err="1"/>
              <a:t>Nhóm</a:t>
            </a:r>
            <a:r>
              <a:rPr dirty="0"/>
              <a:t> </a:t>
            </a:r>
            <a:r>
              <a:rPr dirty="0" err="1"/>
              <a:t>em</a:t>
            </a:r>
            <a:r>
              <a:rPr dirty="0"/>
              <a:t> </a:t>
            </a:r>
            <a:r>
              <a:rPr dirty="0" err="1"/>
              <a:t>xin</a:t>
            </a:r>
            <a:r>
              <a:rPr dirty="0"/>
              <a:t> </a:t>
            </a:r>
            <a:r>
              <a:rPr dirty="0" err="1"/>
              <a:t>giới</a:t>
            </a:r>
            <a:r>
              <a:rPr dirty="0"/>
              <a:t> </a:t>
            </a:r>
            <a:r>
              <a:rPr dirty="0" err="1"/>
              <a:t>thiệu</a:t>
            </a:r>
            <a:r>
              <a:rPr dirty="0"/>
              <a:t> </a:t>
            </a:r>
            <a:r>
              <a:rPr dirty="0" err="1"/>
              <a:t>đề</a:t>
            </a:r>
            <a:r>
              <a:rPr dirty="0"/>
              <a:t> </a:t>
            </a:r>
            <a:r>
              <a:rPr dirty="0" err="1"/>
              <a:t>tài</a:t>
            </a:r>
            <a:r>
              <a:rPr dirty="0"/>
              <a:t> </a:t>
            </a:r>
            <a:r>
              <a:rPr dirty="0" err="1"/>
              <a:t>CineMatch</a:t>
            </a:r>
            <a:r>
              <a:rPr dirty="0"/>
              <a:t>: </a:t>
            </a:r>
            <a:r>
              <a:rPr dirty="0" err="1"/>
              <a:t>hệ</a:t>
            </a:r>
            <a:r>
              <a:rPr dirty="0"/>
              <a:t> </a:t>
            </a:r>
            <a:r>
              <a:rPr dirty="0" err="1"/>
              <a:t>gợi</a:t>
            </a:r>
            <a:r>
              <a:rPr dirty="0"/>
              <a:t> ý </a:t>
            </a:r>
            <a:r>
              <a:rPr dirty="0" err="1"/>
              <a:t>phim</a:t>
            </a:r>
            <a:r>
              <a:rPr dirty="0"/>
              <a:t> </a:t>
            </a:r>
            <a:r>
              <a:rPr dirty="0" err="1"/>
              <a:t>cá</a:t>
            </a:r>
            <a:r>
              <a:rPr dirty="0"/>
              <a:t> </a:t>
            </a:r>
            <a:r>
              <a:rPr dirty="0" err="1"/>
              <a:t>nhân</a:t>
            </a:r>
            <a:r>
              <a:rPr dirty="0"/>
              <a:t> </a:t>
            </a:r>
            <a:r>
              <a:rPr dirty="0" err="1"/>
              <a:t>hoá</a:t>
            </a:r>
            <a:r>
              <a:rPr dirty="0"/>
              <a:t> </a:t>
            </a:r>
            <a:r>
              <a:rPr dirty="0" err="1"/>
              <a:t>có</a:t>
            </a:r>
            <a:r>
              <a:rPr dirty="0"/>
              <a:t> </a:t>
            </a:r>
            <a:r>
              <a:rPr dirty="0" err="1"/>
              <a:t>giải</a:t>
            </a:r>
            <a:r>
              <a:rPr dirty="0"/>
              <a:t> </a:t>
            </a:r>
            <a:r>
              <a:rPr dirty="0" err="1"/>
              <a:t>thích</a:t>
            </a:r>
            <a:r>
              <a:rPr dirty="0"/>
              <a:t>, </a:t>
            </a:r>
            <a:r>
              <a:rPr dirty="0" err="1"/>
              <a:t>xây</a:t>
            </a:r>
            <a:r>
              <a:rPr dirty="0"/>
              <a:t> </a:t>
            </a:r>
            <a:r>
              <a:rPr dirty="0" err="1"/>
              <a:t>dựng</a:t>
            </a:r>
            <a:r>
              <a:rPr dirty="0"/>
              <a:t> </a:t>
            </a:r>
            <a:r>
              <a:rPr dirty="0" err="1"/>
              <a:t>trên</a:t>
            </a:r>
            <a:r>
              <a:rPr dirty="0"/>
              <a:t> </a:t>
            </a:r>
            <a:r>
              <a:rPr dirty="0" err="1"/>
              <a:t>bộ</a:t>
            </a:r>
            <a:r>
              <a:rPr dirty="0"/>
              <a:t> </a:t>
            </a:r>
            <a:r>
              <a:rPr dirty="0" err="1"/>
              <a:t>dữ</a:t>
            </a:r>
            <a:r>
              <a:rPr dirty="0"/>
              <a:t> </a:t>
            </a:r>
            <a:r>
              <a:rPr dirty="0" err="1"/>
              <a:t>liệu</a:t>
            </a:r>
            <a:r>
              <a:rPr dirty="0"/>
              <a:t> </a:t>
            </a:r>
            <a:r>
              <a:rPr dirty="0" err="1"/>
              <a:t>MovieLens</a:t>
            </a:r>
            <a:r>
              <a:rPr dirty="0"/>
              <a:t>. </a:t>
            </a:r>
            <a:r>
              <a:rPr dirty="0" err="1"/>
              <a:t>Phần</a:t>
            </a:r>
            <a:r>
              <a:rPr dirty="0"/>
              <a:t> </a:t>
            </a:r>
            <a:r>
              <a:rPr dirty="0" err="1"/>
              <a:t>này</a:t>
            </a:r>
            <a:r>
              <a:rPr dirty="0"/>
              <a:t> </a:t>
            </a:r>
            <a:r>
              <a:rPr dirty="0" err="1"/>
              <a:t>tập</a:t>
            </a:r>
            <a:r>
              <a:rPr dirty="0"/>
              <a:t> </a:t>
            </a:r>
            <a:r>
              <a:rPr dirty="0" err="1"/>
              <a:t>trung</a:t>
            </a:r>
            <a:r>
              <a:rPr dirty="0"/>
              <a:t> </a:t>
            </a:r>
            <a:r>
              <a:rPr dirty="0" err="1"/>
              <a:t>vào</a:t>
            </a:r>
            <a:r>
              <a:rPr dirty="0"/>
              <a:t> </a:t>
            </a:r>
            <a:r>
              <a:rPr dirty="0" err="1"/>
              <a:t>bài</a:t>
            </a:r>
            <a:r>
              <a:rPr dirty="0"/>
              <a:t> </a:t>
            </a:r>
            <a:r>
              <a:rPr dirty="0" err="1"/>
              <a:t>toán</a:t>
            </a:r>
            <a:r>
              <a:rPr dirty="0"/>
              <a:t>, </a:t>
            </a:r>
            <a:r>
              <a:rPr dirty="0" err="1"/>
              <a:t>bộ</a:t>
            </a:r>
            <a:r>
              <a:rPr dirty="0"/>
              <a:t> </a:t>
            </a:r>
            <a:r>
              <a:rPr dirty="0" err="1"/>
              <a:t>dữ</a:t>
            </a:r>
            <a:r>
              <a:rPr dirty="0"/>
              <a:t> </a:t>
            </a:r>
            <a:r>
              <a:rPr dirty="0" err="1"/>
              <a:t>liệu</a:t>
            </a:r>
            <a:r>
              <a:rPr dirty="0"/>
              <a:t> </a:t>
            </a:r>
            <a:r>
              <a:rPr dirty="0" err="1"/>
              <a:t>và</a:t>
            </a:r>
            <a:r>
              <a:rPr dirty="0"/>
              <a:t> </a:t>
            </a:r>
            <a:r>
              <a:rPr dirty="0" err="1"/>
              <a:t>hướng</a:t>
            </a:r>
            <a:r>
              <a:rPr dirty="0"/>
              <a:t> </a:t>
            </a:r>
            <a:r>
              <a:rPr dirty="0" err="1"/>
              <a:t>xử</a:t>
            </a:r>
            <a:r>
              <a:rPr dirty="0"/>
              <a:t> </a:t>
            </a:r>
            <a:r>
              <a:rPr dirty="0" err="1"/>
              <a:t>lý</a:t>
            </a:r>
            <a:r>
              <a:rPr dirty="0"/>
              <a:t> </a:t>
            </a:r>
            <a:r>
              <a:rPr dirty="0" err="1"/>
              <a:t>dự</a:t>
            </a:r>
            <a:r>
              <a:rPr dirty="0"/>
              <a:t> </a:t>
            </a:r>
            <a:r>
              <a:rPr dirty="0" err="1"/>
              <a:t>kiến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trình bày gồm năm phần: bối cảnh và bài toán, bộ dữ liệu, hướng xử lý, cách đánh giá và kế hoạch thực hiện.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Nói ngắn gọn đề tài làm gì: từ những phim một người đã chấm, hệ thống đề xuất 10 phim họ chưa xem và có khả năng thích nhất, kèm lý do. Có ba lý do cần hệ gợi ý: kho phim quá lớn, mỗi người một gu, và người dùng mới cũng cần được gợi ý ngay.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tiêu chính là top-N: xếp hạng các phim người dùng chưa xem và trả về 10 phim có khả năng được thích nhất. Mục tiêu phụ là dự đoán điểm. Hai mục tiêu này không trùng nhau nên nhóm sẽ đánh giá riêng.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Đây là một ví dụ chạy thử. Người dùng mới chọn ba phim: Interstellar, Inception và The Matrix. Hệ thống trả về danh sách phim chưa xem, mỗi phim có rating dự đoán và lý do gợi ý. Thứ tự xếp hạng không hoàn toàn trùng với rating dự đoán, vì hai mục tiêu này khác nhau như slide trước đã nói. Người dùng mới không cần huấn luyện lại mô hình.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dùng MovieLens ml-latest-small của GroupLens: 610 người dùng, gần 9,8 nghìn phim, khoảng 100 nghìn lượt chấm điểm trong giai đoạn 1996 đến 2018. Dữ liệu gồm bốn file.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3088" y="1336675"/>
            <a:ext cx="6413500" cy="3608388"/>
          </a:xfrm>
          <a:prstGeom prst="rect">
            <a:avLst/>
          </a:prstGeom>
          <a:noFill/>
          <a:ln w="12700">
            <a:solidFill>
              <a:prstClr val="black"/>
            </a:solidFill>
          </a:ln>
        </p:spPr>
      </p:sp>
      <p:sp>
        <p:nvSpPr>
          <p:cNvPr id="3" name="Notes Placeholder 2"/>
          <p:cNvSpPr>
            <a:spLocks noGrp="1"/>
          </p:cNvSpPr>
          <p:nvPr>
            <p:ph type="body" idx="1"/>
          </p:nvPr>
        </p:nvSpPr>
        <p:spPr>
          <a:xfrm>
            <a:off x="755650" y="5145088"/>
            <a:ext cx="6048375" cy="4210050"/>
          </a:xfrm>
          <a:prstGeom prst="rect">
            <a:avLst/>
          </a:prstGeom>
        </p:spPr>
        <p:txBody>
          <a:bodyPr/>
          <a:lstStyle/>
          <a:p>
            <a:r>
              <a:rPr lang="vi-VN"/>
              <a:t>Đối chiếu từng thứ bài toán cần với dữ liệu đang có. Lịch sử chấm điểm, nhãn rating, thể loại, năm và timestamp đều đủ. Có hai điểm hạn chế: tag chỉ có trên 16% phim, và 62% phim có dưới 5 lượt rating. Mô tả phim, diễn viên và hồ sơ người dùng không có nên nằm ngoài phạm vi. Kết luận: dữ liệu đủ cho cả gợi ý top-N và dự đoán điểm; các hạn chế được xử lý bằng content-based, hybrid và đo thêm độ phủ.</a:t>
            </a:r>
          </a:p>
        </p:txBody>
      </p:sp>
    </p:spTree>
    <p:extLst>
      <p:ext uri="{BB962C8B-B14F-4D97-AF65-F5344CB8AC3E}">
        <p14:creationId xmlns:p14="http://schemas.microsoft.com/office/powerpoint/2010/main" val="362178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Ma trận người dùng và phim thưa tới 98,3%. Phân bố rất lệch: 10% phim phổ biến nhất chiếm 60% lượt rating, 35% phim chỉ có một lượt. Điểm trung bình 3,5 sao, và mỗi người, mỗi phim có độ lệch riêng.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đặc điểm dữ liệu dẫn tới một quyết định thiết kế: thưa thì cần regularization và shrinkage; bias thì tách mu cộng b_u cộng b_i; long-tail thì Popularity là baseline bắt buộc; phim mới và tag thưa thì cần content-based và hybrid.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Nhóm đi theo bốn bước từ đơn giản tới phức tạp. Bước một là bốn baseline làm mốc: Random là mức sàn, Popularity xếp theo số lượt rating, Top-rated lấy điểm trung bình làm mịn, và Bias mô hình hoá mu cộng b_u cộng b_i. Sau đó là lọc cộng tác, content-based, rồi hybrid. Mọi mô hình được đánh giá trên cùng một quy trình và gợi ý nào cũng có giải thích.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 kỹ thuật lọc cộng tác. Item-kNN tìm phim giống những phim người dùng đã thích. MF-ALS học vector ẩn. EASE học trên phản hồi ngầm, có nghiệm đóng và khớp trực tiếp với mục tiêu top-N.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Content-based biểu diễn phim bằng TF-IDF trên thể loại, tag và thập niên, với trọng số giảm dần. Profile người dùng là tổng có trọng số các phim đã chấm. Hybrid kết hợp điểm chuẩn hoá của lọc cộng tác và content-based.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Dữ liệu được chia theo thời gian cho từng người dùng: 80% lượt cũ nhất để huấn luyện, 20% mới nhất để kiểm tra. Như vậy không dùng tương lai để đoán quá khứ. Phim được chấm từ 4 sao trở lên ở tập test được coi là phù hợp. Chỉ số chính là NDCG@10.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chia công việc thành năm giai đoạn. Thời gian và người phụ trách cụ thể sẽ được cập nhật.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Danh mục tài liệu trích dẫn theo chuẩn IEEE; số trong ngoặc vuông khớp với các trích dẫn trên các slide trước.</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Cảm ơn thầy cô và các bạn đã lắng nghe. Nhóm sẵn sàng nhận câu hỏi.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8"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5"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6"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3"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7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7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8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9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9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4"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9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1"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2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3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4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5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6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7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FFFFFF"/>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77" name="PlaceHolder 2"/>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1:……………………………………..</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14" name="PlaceHolder 1"/>
          <p:cNvSpPr>
            <a:spLocks noGrp="1"/>
          </p:cNvSpPr>
          <p:nvPr>
            <p:ph type="body"/>
          </p:nvPr>
        </p:nvSpPr>
        <p:spPr>
          <a:xfrm>
            <a:off x="330120" y="1406880"/>
            <a:ext cx="5765400" cy="46555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Chart</a:t>
            </a:r>
            <a:endParaRPr lang="en-US" sz="1800" b="0" strike="noStrike" spc="-1">
              <a:solidFill>
                <a:srgbClr val="000000"/>
              </a:solidFill>
              <a:latin typeface="Calibri"/>
            </a:endParaRPr>
          </a:p>
        </p:txBody>
      </p:sp>
      <p:sp>
        <p:nvSpPr>
          <p:cNvPr id="115" name="PlaceHolder 2"/>
          <p:cNvSpPr>
            <a:spLocks noGrp="1"/>
          </p:cNvSpPr>
          <p:nvPr>
            <p:ph type="body"/>
          </p:nvPr>
        </p:nvSpPr>
        <p:spPr>
          <a:xfrm>
            <a:off x="6238800" y="1414440"/>
            <a:ext cx="5444640" cy="465588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Picture</a:t>
            </a:r>
            <a:endParaRPr lang="en-US" sz="1800" b="0" strike="noStrike" spc="-1">
              <a:solidFill>
                <a:srgbClr val="000000"/>
              </a:solidFill>
              <a:latin typeface="Calibri"/>
            </a:endParaRPr>
          </a:p>
        </p:txBody>
      </p:sp>
      <p:sp>
        <p:nvSpPr>
          <p:cNvPr id="116" name="PlaceHolder 3"/>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2:……………………………………..</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53" name="PlaceHolder 1"/>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3:……………………………………..</a:t>
            </a:r>
            <a:endParaRPr lang="en-US" sz="2800" b="0" strike="noStrike" spc="-1">
              <a:solidFill>
                <a:srgbClr val="000000"/>
              </a:solidFill>
              <a:latin typeface="Calibri"/>
            </a:endParaRPr>
          </a:p>
        </p:txBody>
      </p:sp>
      <p:sp>
        <p:nvSpPr>
          <p:cNvPr id="154" name="PlaceHolder 2"/>
          <p:cNvSpPr>
            <a:spLocks noGrp="1"/>
          </p:cNvSpPr>
          <p:nvPr>
            <p:ph type="body"/>
          </p:nvPr>
        </p:nvSpPr>
        <p:spPr>
          <a:xfrm>
            <a:off x="337680" y="1032480"/>
            <a:ext cx="11515320" cy="49384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91" name="PlaceHolder 1"/>
          <p:cNvSpPr>
            <a:spLocks noGrp="1"/>
          </p:cNvSpPr>
          <p:nvPr>
            <p:ph type="body"/>
          </p:nvPr>
        </p:nvSpPr>
        <p:spPr>
          <a:xfrm>
            <a:off x="4558320" y="1248480"/>
            <a:ext cx="7391160" cy="52048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192" name="PlaceHolder 2"/>
          <p:cNvSpPr>
            <a:spLocks noGrp="1"/>
          </p:cNvSpPr>
          <p:nvPr>
            <p:ph type="title"/>
          </p:nvPr>
        </p:nvSpPr>
        <p:spPr>
          <a:xfrm>
            <a:off x="4558320" y="404280"/>
            <a:ext cx="7391160" cy="435600"/>
          </a:xfrm>
          <a:prstGeom prst="rect">
            <a:avLst/>
          </a:prstGeom>
        </p:spPr>
        <p:txBody>
          <a:bodyPr lIns="90000" tIns="45000" rIns="90000" bIns="45000">
            <a:noAutofit/>
          </a:bodyPr>
          <a:lstStyle/>
          <a:p>
            <a:pPr>
              <a:lnSpc>
                <a:spcPct val="90000"/>
              </a:lnSpc>
            </a:pPr>
            <a:r>
              <a:rPr lang="en-US" sz="2800" b="1" strike="noStrike" spc="-1">
                <a:solidFill>
                  <a:srgbClr val="000000"/>
                </a:solidFill>
                <a:latin typeface="Lato"/>
                <a:ea typeface="Lato"/>
              </a:rPr>
              <a:t>Title 4:……………………………………..</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29" name="PlaceHolder 1"/>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5:……………………………………..</a:t>
            </a:r>
            <a:endParaRPr lang="en-US" sz="2800" b="0" strike="noStrike" spc="-1">
              <a:solidFill>
                <a:srgbClr val="000000"/>
              </a:solidFill>
              <a:latin typeface="Calibri"/>
            </a:endParaRPr>
          </a:p>
        </p:txBody>
      </p:sp>
      <p:sp>
        <p:nvSpPr>
          <p:cNvPr id="230" name="PlaceHolder 2"/>
          <p:cNvSpPr>
            <a:spLocks noGrp="1"/>
          </p:cNvSpPr>
          <p:nvPr>
            <p:ph type="body"/>
          </p:nvPr>
        </p:nvSpPr>
        <p:spPr>
          <a:xfrm>
            <a:off x="338760" y="1406520"/>
            <a:ext cx="5756760" cy="46699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Chart</a:t>
            </a:r>
            <a:endParaRPr lang="en-US" sz="1800" b="0" strike="noStrike" spc="-1">
              <a:solidFill>
                <a:srgbClr val="000000"/>
              </a:solidFill>
              <a:latin typeface="Calibri"/>
            </a:endParaRPr>
          </a:p>
        </p:txBody>
      </p:sp>
      <p:sp>
        <p:nvSpPr>
          <p:cNvPr id="231" name="PlaceHolder 3"/>
          <p:cNvSpPr>
            <a:spLocks noGrp="1"/>
          </p:cNvSpPr>
          <p:nvPr>
            <p:ph type="body"/>
          </p:nvPr>
        </p:nvSpPr>
        <p:spPr>
          <a:xfrm>
            <a:off x="6210360" y="1392120"/>
            <a:ext cx="5592240" cy="46843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Table</a:t>
            </a:r>
            <a:endParaRPr lang="en-US" sz="1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26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Picture 3" descr="Text&#10;&#10;Description automatically generated"/>
          <p:cNvPicPr/>
          <p:nvPr/>
        </p:nvPicPr>
        <p:blipFill>
          <a:blip r:embed="rId3"/>
          <a:stretch/>
        </p:blipFill>
        <p:spPr>
          <a:xfrm>
            <a:off x="392040" y="271440"/>
            <a:ext cx="3174120" cy="1153080"/>
          </a:xfrm>
          <a:prstGeom prst="rect">
            <a:avLst/>
          </a:prstGeom>
          <a:ln>
            <a:noFill/>
          </a:ln>
        </p:spPr>
      </p:pic>
      <p:sp>
        <p:nvSpPr>
          <p:cNvPr id="307" name="Title"/>
          <p:cNvSpPr txBox="1"/>
          <p:nvPr/>
        </p:nvSpPr>
        <p:spPr>
          <a:xfrm>
            <a:off x="694944" y="1691640"/>
            <a:ext cx="6583680" cy="1737360"/>
          </a:xfrm>
          <a:prstGeom prst="rect">
            <a:avLst/>
          </a:prstGeom>
          <a:noFill/>
        </p:spPr>
        <p:txBody>
          <a:bodyPr wrap="square" lIns="0" tIns="0" rIns="0" bIns="0" anchor="b">
            <a:spAutoFit/>
          </a:bodyPr>
          <a:lstStyle/>
          <a:p>
            <a:pPr algn="l">
              <a:spcAft>
                <a:spcPts val="0"/>
              </a:spcAft>
            </a:pPr>
            <a:r>
              <a:rPr sz="5400" b="1" i="0">
                <a:solidFill>
                  <a:srgbClr val="003366"/>
                </a:solidFill>
                <a:latin typeface="Arial"/>
              </a:rPr>
              <a:t>CineMatch</a:t>
            </a:r>
          </a:p>
          <a:p>
            <a:pPr algn="l">
              <a:spcAft>
                <a:spcPts val="0"/>
              </a:spcAft>
            </a:pPr>
            <a:r>
              <a:rPr sz="2600" b="1" i="0">
                <a:solidFill>
                  <a:srgbClr val="003366"/>
                </a:solidFill>
                <a:latin typeface="Arial"/>
              </a:rPr>
              <a:t>Hệ gợi ý phim cá nhân hoá có giải thích</a:t>
            </a:r>
          </a:p>
        </p:txBody>
      </p:sp>
      <p:sp>
        <p:nvSpPr>
          <p:cNvPr id="308" name="Subtitle"/>
          <p:cNvSpPr txBox="1"/>
          <p:nvPr/>
        </p:nvSpPr>
        <p:spPr>
          <a:xfrm>
            <a:off x="694944" y="3520440"/>
            <a:ext cx="6583680" cy="307777"/>
          </a:xfrm>
          <a:prstGeom prst="rect">
            <a:avLst/>
          </a:prstGeom>
          <a:noFill/>
        </p:spPr>
        <p:txBody>
          <a:bodyPr wrap="square" lIns="0" tIns="0" rIns="0" bIns="0" anchor="t">
            <a:spAutoFit/>
          </a:bodyPr>
          <a:lstStyle/>
          <a:p>
            <a:pPr algn="l">
              <a:spcAft>
                <a:spcPts val="600"/>
              </a:spcAft>
            </a:pPr>
            <a:r>
              <a:rPr sz="2000" b="0" i="0" dirty="0" err="1">
                <a:solidFill>
                  <a:srgbClr val="C02034"/>
                </a:solidFill>
                <a:latin typeface="Arial"/>
              </a:rPr>
              <a:t>Hệ</a:t>
            </a:r>
            <a:r>
              <a:rPr sz="2000" b="0" i="0" dirty="0">
                <a:solidFill>
                  <a:srgbClr val="C02034"/>
                </a:solidFill>
                <a:latin typeface="Arial"/>
              </a:rPr>
              <a:t> </a:t>
            </a:r>
            <a:r>
              <a:rPr sz="2000" b="0" i="0" dirty="0" err="1">
                <a:solidFill>
                  <a:srgbClr val="C02034"/>
                </a:solidFill>
                <a:latin typeface="Arial"/>
              </a:rPr>
              <a:t>gợi</a:t>
            </a:r>
            <a:r>
              <a:rPr sz="2000" b="0" i="0" dirty="0">
                <a:solidFill>
                  <a:srgbClr val="C02034"/>
                </a:solidFill>
                <a:latin typeface="Arial"/>
              </a:rPr>
              <a:t> ý </a:t>
            </a:r>
            <a:r>
              <a:rPr lang="en-US" sz="2000" b="0" i="0" dirty="0">
                <a:solidFill>
                  <a:srgbClr val="C02034"/>
                </a:solidFill>
                <a:latin typeface="Arial"/>
              </a:rPr>
              <a:t>- </a:t>
            </a:r>
            <a:r>
              <a:rPr sz="2000" b="0" i="0" dirty="0">
                <a:solidFill>
                  <a:srgbClr val="C02034"/>
                </a:solidFill>
                <a:latin typeface="Arial"/>
              </a:rPr>
              <a:t>IT4613</a:t>
            </a:r>
          </a:p>
        </p:txBody>
      </p:sp>
      <p:sp>
        <p:nvSpPr>
          <p:cNvPr id="309" name="Members"/>
          <p:cNvSpPr txBox="1"/>
          <p:nvPr/>
        </p:nvSpPr>
        <p:spPr>
          <a:xfrm>
            <a:off x="694944" y="4206240"/>
            <a:ext cx="3657600" cy="1280160"/>
          </a:xfrm>
          <a:prstGeom prst="rect">
            <a:avLst/>
          </a:prstGeom>
          <a:noFill/>
        </p:spPr>
        <p:txBody>
          <a:bodyPr wrap="square" lIns="0" tIns="0" rIns="0" bIns="0" anchor="t">
            <a:spAutoFit/>
          </a:bodyPr>
          <a:lstStyle/>
          <a:p>
            <a:pPr algn="l">
              <a:spcAft>
                <a:spcPts val="600"/>
              </a:spcAft>
            </a:pPr>
            <a:r>
              <a:rPr sz="1600" b="1" i="0">
                <a:solidFill>
                  <a:srgbClr val="003366"/>
                </a:solidFill>
                <a:latin typeface="Arial"/>
              </a:rPr>
              <a:t>Nhóm sinh viên thực hiện</a:t>
            </a:r>
          </a:p>
          <a:p>
            <a:pPr marL="228600" indent="-228600" algn="l">
              <a:spcAft>
                <a:spcPts val="200"/>
              </a:spcAft>
              <a:buClr>
                <a:srgbClr val="003366"/>
              </a:buClr>
              <a:buFont typeface="Arial"/>
              <a:buChar char="▪"/>
            </a:pPr>
            <a:r>
              <a:rPr sz="1600" b="0" i="0">
                <a:solidFill>
                  <a:srgbClr val="1C1C1C"/>
                </a:solidFill>
                <a:latin typeface="Arial"/>
              </a:rPr>
              <a:t>Hoàng Đức Anh – 20230015</a:t>
            </a:r>
          </a:p>
          <a:p>
            <a:pPr marL="228600" indent="-228600" algn="l">
              <a:spcAft>
                <a:spcPts val="200"/>
              </a:spcAft>
              <a:buClr>
                <a:srgbClr val="003366"/>
              </a:buClr>
              <a:buFont typeface="Arial"/>
              <a:buChar char="▪"/>
            </a:pPr>
            <a:r>
              <a:rPr sz="1600" b="0" i="0">
                <a:solidFill>
                  <a:srgbClr val="1C1C1C"/>
                </a:solidFill>
                <a:latin typeface="Arial"/>
              </a:rPr>
              <a:t>Phạm Đức Anh – 20235008</a:t>
            </a:r>
          </a:p>
          <a:p>
            <a:pPr marL="228600" indent="-228600" algn="l">
              <a:spcAft>
                <a:spcPts val="200"/>
              </a:spcAft>
              <a:buClr>
                <a:srgbClr val="003366"/>
              </a:buClr>
              <a:buFont typeface="Arial"/>
              <a:buChar char="▪"/>
            </a:pPr>
            <a:r>
              <a:rPr sz="1600" b="0" i="0">
                <a:solidFill>
                  <a:srgbClr val="1C1C1C"/>
                </a:solidFill>
                <a:latin typeface="Arial"/>
              </a:rPr>
              <a:t>Trần Quý Đôn – 20235039</a:t>
            </a:r>
          </a:p>
        </p:txBody>
      </p:sp>
      <p:sp>
        <p:nvSpPr>
          <p:cNvPr id="310" name="Supervisor"/>
          <p:cNvSpPr txBox="1"/>
          <p:nvPr/>
        </p:nvSpPr>
        <p:spPr>
          <a:xfrm>
            <a:off x="4480560" y="4206240"/>
            <a:ext cx="2743200" cy="1280160"/>
          </a:xfrm>
          <a:prstGeom prst="rect">
            <a:avLst/>
          </a:prstGeom>
          <a:noFill/>
        </p:spPr>
        <p:txBody>
          <a:bodyPr wrap="square" lIns="0" tIns="0" rIns="0" bIns="0" anchor="t">
            <a:spAutoFit/>
          </a:bodyPr>
          <a:lstStyle/>
          <a:p>
            <a:pPr algn="l">
              <a:spcAft>
                <a:spcPts val="600"/>
              </a:spcAft>
            </a:pPr>
            <a:r>
              <a:rPr sz="1600" b="1" i="0">
                <a:solidFill>
                  <a:srgbClr val="003366"/>
                </a:solidFill>
                <a:latin typeface="Arial"/>
              </a:rPr>
              <a:t>Giảng viên hướng dẫn</a:t>
            </a:r>
          </a:p>
          <a:p>
            <a:pPr algn="l">
              <a:spcAft>
                <a:spcPts val="600"/>
              </a:spcAft>
            </a:pPr>
            <a:r>
              <a:rPr sz="1600" b="0" i="0">
                <a:solidFill>
                  <a:srgbClr val="1C1C1C"/>
                </a:solidFill>
                <a:latin typeface="Arial"/>
              </a:rPr>
              <a:t>PGS.TS Nguyễn Thị Kim Anh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937760" y="502920"/>
            <a:ext cx="6766560" cy="731520"/>
          </a:xfrm>
          <a:prstGeom prst="rect">
            <a:avLst/>
          </a:prstGeom>
          <a:noFill/>
        </p:spPr>
        <p:txBody>
          <a:bodyPr wrap="square" lIns="0" tIns="0" rIns="0" bIns="0" anchor="ctr">
            <a:spAutoFit/>
          </a:bodyPr>
          <a:lstStyle/>
          <a:p>
            <a:pPr algn="l">
              <a:spcAft>
                <a:spcPts val="600"/>
              </a:spcAft>
            </a:pPr>
            <a:r>
              <a:rPr sz="3200" b="1" i="0">
                <a:solidFill>
                  <a:srgbClr val="003366"/>
                </a:solidFill>
                <a:latin typeface="Arial"/>
              </a:rPr>
              <a:t>Nội dung trình bày</a:t>
            </a:r>
          </a:p>
        </p:txBody>
      </p:sp>
      <p:sp>
        <p:nvSpPr>
          <p:cNvPr id="3" name="Rectangle 2"/>
          <p:cNvSpPr/>
          <p:nvPr/>
        </p:nvSpPr>
        <p:spPr>
          <a:xfrm>
            <a:off x="4937760" y="1508760"/>
            <a:ext cx="566928"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000" b="1" i="0">
                <a:solidFill>
                  <a:srgbClr val="FFFFFF"/>
                </a:solidFill>
                <a:latin typeface="Arial"/>
              </a:rPr>
              <a:t>1</a:t>
            </a:r>
          </a:p>
        </p:txBody>
      </p:sp>
      <p:sp>
        <p:nvSpPr>
          <p:cNvPr id="4" name="TextBox 3"/>
          <p:cNvSpPr txBox="1"/>
          <p:nvPr/>
        </p:nvSpPr>
        <p:spPr>
          <a:xfrm>
            <a:off x="5760720" y="1453895"/>
            <a:ext cx="5943600" cy="685800"/>
          </a:xfrm>
          <a:prstGeom prst="rect">
            <a:avLst/>
          </a:prstGeom>
          <a:noFill/>
        </p:spPr>
        <p:txBody>
          <a:bodyPr wrap="square" lIns="0" tIns="0" rIns="0" bIns="0" anchor="ctr">
            <a:spAutoFit/>
          </a:bodyPr>
          <a:lstStyle/>
          <a:p>
            <a:pPr algn="l">
              <a:spcAft>
                <a:spcPts val="0"/>
              </a:spcAft>
            </a:pPr>
            <a:r>
              <a:rPr sz="2000" b="1" i="0">
                <a:solidFill>
                  <a:srgbClr val="1C1C1C"/>
                </a:solidFill>
                <a:latin typeface="Arial"/>
              </a:rPr>
              <a:t>Đề tài và bài toán</a:t>
            </a:r>
          </a:p>
          <a:p>
            <a:pPr algn="l">
              <a:spcAft>
                <a:spcPts val="0"/>
              </a:spcAft>
            </a:pPr>
            <a:r>
              <a:rPr sz="1400" b="0" i="0">
                <a:solidFill>
                  <a:srgbClr val="5F636B"/>
                </a:solidFill>
                <a:latin typeface="Arial"/>
              </a:rPr>
              <a:t>Vì sao cần gợi ý phim, hệ thống nhận gì và trả về gì</a:t>
            </a:r>
          </a:p>
        </p:txBody>
      </p:sp>
      <p:sp>
        <p:nvSpPr>
          <p:cNvPr id="5" name="Rectangle 4"/>
          <p:cNvSpPr/>
          <p:nvPr/>
        </p:nvSpPr>
        <p:spPr>
          <a:xfrm>
            <a:off x="4937760" y="2423160"/>
            <a:ext cx="566928"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000" b="1" i="0">
                <a:solidFill>
                  <a:srgbClr val="FFFFFF"/>
                </a:solidFill>
                <a:latin typeface="Arial"/>
              </a:rPr>
              <a:t>2</a:t>
            </a:r>
          </a:p>
        </p:txBody>
      </p:sp>
      <p:sp>
        <p:nvSpPr>
          <p:cNvPr id="6" name="TextBox 5"/>
          <p:cNvSpPr txBox="1"/>
          <p:nvPr/>
        </p:nvSpPr>
        <p:spPr>
          <a:xfrm>
            <a:off x="5760720" y="2368296"/>
            <a:ext cx="5943600" cy="685800"/>
          </a:xfrm>
          <a:prstGeom prst="rect">
            <a:avLst/>
          </a:prstGeom>
          <a:noFill/>
        </p:spPr>
        <p:txBody>
          <a:bodyPr wrap="square" lIns="0" tIns="0" rIns="0" bIns="0" anchor="ctr">
            <a:spAutoFit/>
          </a:bodyPr>
          <a:lstStyle/>
          <a:p>
            <a:pPr algn="l">
              <a:spcAft>
                <a:spcPts val="0"/>
              </a:spcAft>
            </a:pPr>
            <a:r>
              <a:rPr sz="2000" b="1" i="0">
                <a:solidFill>
                  <a:srgbClr val="1C1C1C"/>
                </a:solidFill>
                <a:latin typeface="Arial"/>
              </a:rPr>
              <a:t>Bộ dữ liệu MovieLens</a:t>
            </a:r>
          </a:p>
          <a:p>
            <a:pPr algn="l">
              <a:spcAft>
                <a:spcPts val="0"/>
              </a:spcAft>
            </a:pPr>
            <a:r>
              <a:rPr sz="1400" b="0" i="0">
                <a:solidFill>
                  <a:srgbClr val="5F636B"/>
                </a:solidFill>
                <a:latin typeface="Arial"/>
              </a:rPr>
              <a:t>Quy mô, có đủ cho bài toán không, đặc điểm</a:t>
            </a:r>
          </a:p>
        </p:txBody>
      </p:sp>
      <p:sp>
        <p:nvSpPr>
          <p:cNvPr id="7" name="Rectangle 6"/>
          <p:cNvSpPr/>
          <p:nvPr/>
        </p:nvSpPr>
        <p:spPr>
          <a:xfrm>
            <a:off x="4937760" y="3337560"/>
            <a:ext cx="566928"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000" b="1" i="0">
                <a:solidFill>
                  <a:srgbClr val="FFFFFF"/>
                </a:solidFill>
                <a:latin typeface="Arial"/>
              </a:rPr>
              <a:t>3</a:t>
            </a:r>
          </a:p>
        </p:txBody>
      </p:sp>
      <p:sp>
        <p:nvSpPr>
          <p:cNvPr id="8" name="TextBox 7"/>
          <p:cNvSpPr txBox="1"/>
          <p:nvPr/>
        </p:nvSpPr>
        <p:spPr>
          <a:xfrm>
            <a:off x="5760720" y="3282696"/>
            <a:ext cx="5943600" cy="685800"/>
          </a:xfrm>
          <a:prstGeom prst="rect">
            <a:avLst/>
          </a:prstGeom>
          <a:noFill/>
        </p:spPr>
        <p:txBody>
          <a:bodyPr wrap="square" lIns="0" tIns="0" rIns="0" bIns="0" anchor="ctr">
            <a:spAutoFit/>
          </a:bodyPr>
          <a:lstStyle/>
          <a:p>
            <a:pPr algn="l">
              <a:spcAft>
                <a:spcPts val="0"/>
              </a:spcAft>
            </a:pPr>
            <a:r>
              <a:rPr sz="2000" b="1" i="0">
                <a:solidFill>
                  <a:srgbClr val="1C1C1C"/>
                </a:solidFill>
                <a:latin typeface="Arial"/>
              </a:rPr>
              <a:t>Hướng xử lý</a:t>
            </a:r>
          </a:p>
          <a:p>
            <a:pPr algn="l">
              <a:spcAft>
                <a:spcPts val="0"/>
              </a:spcAft>
            </a:pPr>
            <a:r>
              <a:rPr sz="1400" b="0" i="0">
                <a:solidFill>
                  <a:srgbClr val="5F636B"/>
                </a:solidFill>
                <a:latin typeface="Arial"/>
              </a:rPr>
              <a:t>Baseline, lọc cộng tác, content-based, hybrid</a:t>
            </a:r>
          </a:p>
        </p:txBody>
      </p:sp>
      <p:sp>
        <p:nvSpPr>
          <p:cNvPr id="9" name="Rectangle 8"/>
          <p:cNvSpPr/>
          <p:nvPr/>
        </p:nvSpPr>
        <p:spPr>
          <a:xfrm>
            <a:off x="4937760" y="4251960"/>
            <a:ext cx="566928"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000" b="1" i="0">
                <a:solidFill>
                  <a:srgbClr val="FFFFFF"/>
                </a:solidFill>
                <a:latin typeface="Arial"/>
              </a:rPr>
              <a:t>4</a:t>
            </a:r>
          </a:p>
        </p:txBody>
      </p:sp>
      <p:sp>
        <p:nvSpPr>
          <p:cNvPr id="10" name="TextBox 9"/>
          <p:cNvSpPr txBox="1"/>
          <p:nvPr/>
        </p:nvSpPr>
        <p:spPr>
          <a:xfrm>
            <a:off x="5760720" y="4197096"/>
            <a:ext cx="5943600" cy="685800"/>
          </a:xfrm>
          <a:prstGeom prst="rect">
            <a:avLst/>
          </a:prstGeom>
          <a:noFill/>
        </p:spPr>
        <p:txBody>
          <a:bodyPr wrap="square" lIns="0" tIns="0" rIns="0" bIns="0" anchor="ctr">
            <a:spAutoFit/>
          </a:bodyPr>
          <a:lstStyle/>
          <a:p>
            <a:pPr algn="l">
              <a:spcAft>
                <a:spcPts val="0"/>
              </a:spcAft>
            </a:pPr>
            <a:r>
              <a:rPr sz="2000" b="1" i="0">
                <a:solidFill>
                  <a:srgbClr val="1C1C1C"/>
                </a:solidFill>
                <a:latin typeface="Arial"/>
              </a:rPr>
              <a:t>Kế hoạch đánh giá</a:t>
            </a:r>
          </a:p>
          <a:p>
            <a:pPr algn="l">
              <a:spcAft>
                <a:spcPts val="0"/>
              </a:spcAft>
            </a:pPr>
            <a:r>
              <a:rPr sz="1400" b="0" i="0">
                <a:solidFill>
                  <a:srgbClr val="5F636B"/>
                </a:solidFill>
                <a:latin typeface="Arial"/>
              </a:rPr>
              <a:t>Cách chia dữ liệu và các chỉ số đo</a:t>
            </a:r>
          </a:p>
        </p:txBody>
      </p:sp>
      <p:sp>
        <p:nvSpPr>
          <p:cNvPr id="11" name="Rectangle 10"/>
          <p:cNvSpPr/>
          <p:nvPr/>
        </p:nvSpPr>
        <p:spPr>
          <a:xfrm>
            <a:off x="4937760" y="5166360"/>
            <a:ext cx="566928"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000" b="1" i="0">
                <a:solidFill>
                  <a:srgbClr val="FFFFFF"/>
                </a:solidFill>
                <a:latin typeface="Arial"/>
              </a:rPr>
              <a:t>5</a:t>
            </a:r>
          </a:p>
        </p:txBody>
      </p:sp>
      <p:sp>
        <p:nvSpPr>
          <p:cNvPr id="12" name="TextBox 11"/>
          <p:cNvSpPr txBox="1"/>
          <p:nvPr/>
        </p:nvSpPr>
        <p:spPr>
          <a:xfrm>
            <a:off x="5760720" y="5111496"/>
            <a:ext cx="5943600" cy="685800"/>
          </a:xfrm>
          <a:prstGeom prst="rect">
            <a:avLst/>
          </a:prstGeom>
          <a:noFill/>
        </p:spPr>
        <p:txBody>
          <a:bodyPr wrap="square" lIns="0" tIns="0" rIns="0" bIns="0" anchor="ctr">
            <a:spAutoFit/>
          </a:bodyPr>
          <a:lstStyle/>
          <a:p>
            <a:pPr algn="l">
              <a:spcAft>
                <a:spcPts val="0"/>
              </a:spcAft>
            </a:pPr>
            <a:r>
              <a:rPr sz="2000" b="1" i="0">
                <a:solidFill>
                  <a:srgbClr val="1C1C1C"/>
                </a:solidFill>
                <a:latin typeface="Arial"/>
              </a:rPr>
              <a:t>Kế hoạch thực hiện</a:t>
            </a:r>
          </a:p>
          <a:p>
            <a:pPr algn="l">
              <a:spcAft>
                <a:spcPts val="0"/>
              </a:spcAft>
            </a:pPr>
            <a:r>
              <a:rPr sz="1400" b="0" i="0">
                <a:solidFill>
                  <a:srgbClr val="5F636B"/>
                </a:solidFill>
                <a:latin typeface="Arial"/>
              </a:rPr>
              <a:t>Các giai đoạn và phân công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Mục tiêu của đề tài</a:t>
            </a:r>
          </a:p>
        </p:txBody>
      </p:sp>
      <p:sp>
        <p:nvSpPr>
          <p:cNvPr id="101" name="Shape 101"/>
          <p:cNvSpPr/>
          <p:nvPr/>
        </p:nvSpPr>
        <p:spPr>
          <a:xfrm>
            <a:off x="548640" y="1051560"/>
            <a:ext cx="11091672" cy="1307592"/>
          </a:xfrm>
          <a:prstGeom prst="roundRect">
            <a:avLst>
              <a:gd name="adj" fmla="val 8000"/>
            </a:avLst>
          </a:prstGeom>
          <a:solidFill>
            <a:srgbClr val="E8EEF5"/>
          </a:solidFill>
          <a:ln>
            <a:noFill/>
          </a:ln>
        </p:spPr>
        <p:txBody>
          <a:bodyPr lIns="228600" tIns="0" rIns="228600" bIns="0" rtlCol="0" anchor="ctr">
            <a:noAutofit/>
          </a:bodyPr>
          <a:lstStyle/>
          <a:p>
            <a:pPr algn="l">
              <a:spcAft>
                <a:spcPts val="300"/>
              </a:spcAft>
            </a:pPr>
            <a:r>
              <a:rPr lang="vi-VN" sz="1200" b="1" i="0" dirty="0">
                <a:solidFill>
                  <a:srgbClr val="5F636B"/>
                </a:solidFill>
                <a:latin typeface="Arial"/>
                <a:cs typeface="Arial"/>
              </a:rPr>
              <a:t>ĐỀ TÀI</a:t>
            </a:r>
          </a:p>
          <a:p>
            <a:pPr algn="l">
              <a:spcAft>
                <a:spcPts val="0"/>
              </a:spcAft>
            </a:pPr>
            <a:r>
              <a:rPr lang="vi-VN" sz="2200" b="1" i="0" dirty="0">
                <a:solidFill>
                  <a:srgbClr val="003366"/>
                </a:solidFill>
                <a:latin typeface="Arial"/>
                <a:cs typeface="Arial"/>
              </a:rPr>
              <a:t>Từ những phim một người đã chấm điểm, hệ thống đề xuất 10 phim họ chưa xem và có khả năng thích nhất, kèm lý do vì sao gợi ý.</a:t>
            </a:r>
          </a:p>
        </p:txBody>
      </p:sp>
      <p:sp>
        <p:nvSpPr>
          <p:cNvPr id="102" name="TextBox 102"/>
          <p:cNvSpPr txBox="1"/>
          <p:nvPr/>
        </p:nvSpPr>
        <p:spPr>
          <a:xfrm>
            <a:off x="548640" y="2651760"/>
            <a:ext cx="11091672" cy="365760"/>
          </a:xfrm>
          <a:prstGeom prst="rect">
            <a:avLst/>
          </a:prstGeom>
          <a:noFill/>
        </p:spPr>
        <p:txBody>
          <a:bodyPr wrap="square" lIns="0" tIns="0" rIns="0" bIns="0" anchor="t">
            <a:noAutofit/>
          </a:bodyPr>
          <a:lstStyle/>
          <a:p>
            <a:pPr algn="l">
              <a:spcAft>
                <a:spcPts val="0"/>
              </a:spcAft>
            </a:pPr>
            <a:r>
              <a:rPr lang="vi-VN" sz="1800" b="1" i="0" dirty="0">
                <a:solidFill>
                  <a:srgbClr val="1C1C1C"/>
                </a:solidFill>
                <a:latin typeface="Arial"/>
                <a:cs typeface="Arial"/>
              </a:rPr>
              <a:t>Vì sao cần?</a:t>
            </a:r>
          </a:p>
        </p:txBody>
      </p:sp>
      <p:cxnSp>
        <p:nvCxnSpPr>
          <p:cNvPr id="103" name="Line 103"/>
          <p:cNvCxnSpPr/>
          <p:nvPr/>
        </p:nvCxnSpPr>
        <p:spPr>
          <a:xfrm>
            <a:off x="548640" y="3108960"/>
            <a:ext cx="3453384" cy="0"/>
          </a:xfrm>
          <a:prstGeom prst="line">
            <a:avLst/>
          </a:prstGeom>
          <a:ln w="9525">
            <a:solidFill>
              <a:srgbClr val="C6CFDB"/>
            </a:solidFill>
          </a:ln>
        </p:spPr>
      </p:cxnSp>
      <p:sp>
        <p:nvSpPr>
          <p:cNvPr id="104" name="TextBox 104"/>
          <p:cNvSpPr txBox="1"/>
          <p:nvPr/>
        </p:nvSpPr>
        <p:spPr>
          <a:xfrm>
            <a:off x="548640" y="3200400"/>
            <a:ext cx="3453384" cy="1188720"/>
          </a:xfrm>
          <a:prstGeom prst="rect">
            <a:avLst/>
          </a:prstGeom>
          <a:noFill/>
        </p:spPr>
        <p:txBody>
          <a:bodyPr wrap="square" lIns="0" tIns="0" rIns="0" bIns="0" anchor="t">
            <a:noAutofit/>
          </a:bodyPr>
          <a:lstStyle/>
          <a:p>
            <a:pPr algn="l">
              <a:spcAft>
                <a:spcPts val="600"/>
              </a:spcAft>
            </a:pPr>
            <a:r>
              <a:rPr lang="vi-VN" sz="1600" b="1" i="0" dirty="0">
                <a:solidFill>
                  <a:srgbClr val="003366"/>
                </a:solidFill>
                <a:latin typeface="Arial"/>
                <a:cs typeface="Arial"/>
              </a:rPr>
              <a:t>Quá tải lựa chọn</a:t>
            </a:r>
          </a:p>
          <a:p>
            <a:pPr algn="l">
              <a:spcAft>
                <a:spcPts val="0"/>
              </a:spcAft>
            </a:pPr>
            <a:r>
              <a:rPr lang="vi-VN" sz="1500" b="0" i="0" dirty="0">
                <a:solidFill>
                  <a:srgbClr val="1C1C1C"/>
                </a:solidFill>
                <a:latin typeface="Arial"/>
                <a:cs typeface="Arial"/>
              </a:rPr>
              <a:t>Kho phim quá lớn, người dùng không thể tự duyệt hết.</a:t>
            </a:r>
          </a:p>
        </p:txBody>
      </p:sp>
      <p:cxnSp>
        <p:nvCxnSpPr>
          <p:cNvPr id="105" name="Line 105"/>
          <p:cNvCxnSpPr/>
          <p:nvPr/>
        </p:nvCxnSpPr>
        <p:spPr>
          <a:xfrm>
            <a:off x="4367784" y="3108960"/>
            <a:ext cx="3453384" cy="0"/>
          </a:xfrm>
          <a:prstGeom prst="line">
            <a:avLst/>
          </a:prstGeom>
          <a:ln w="9525">
            <a:solidFill>
              <a:srgbClr val="C6CFDB"/>
            </a:solidFill>
          </a:ln>
        </p:spPr>
      </p:cxnSp>
      <p:sp>
        <p:nvSpPr>
          <p:cNvPr id="106" name="TextBox 106"/>
          <p:cNvSpPr txBox="1"/>
          <p:nvPr/>
        </p:nvSpPr>
        <p:spPr>
          <a:xfrm>
            <a:off x="4367784" y="3200400"/>
            <a:ext cx="3453384" cy="1188720"/>
          </a:xfrm>
          <a:prstGeom prst="rect">
            <a:avLst/>
          </a:prstGeom>
          <a:noFill/>
        </p:spPr>
        <p:txBody>
          <a:bodyPr wrap="square" lIns="0" tIns="0" rIns="0" bIns="0" anchor="t">
            <a:noAutofit/>
          </a:bodyPr>
          <a:lstStyle/>
          <a:p>
            <a:pPr algn="l">
              <a:spcAft>
                <a:spcPts val="600"/>
              </a:spcAft>
            </a:pPr>
            <a:r>
              <a:rPr lang="vi-VN" sz="1600" b="1" i="0" dirty="0">
                <a:solidFill>
                  <a:srgbClr val="003366"/>
                </a:solidFill>
                <a:latin typeface="Arial"/>
                <a:cs typeface="Arial"/>
              </a:rPr>
              <a:t>Mỗi người một gu</a:t>
            </a:r>
          </a:p>
          <a:p>
            <a:pPr algn="l">
              <a:spcAft>
                <a:spcPts val="0"/>
              </a:spcAft>
            </a:pPr>
            <a:r>
              <a:rPr lang="vi-VN" sz="1500" b="0" i="0" dirty="0">
                <a:solidFill>
                  <a:srgbClr val="1C1C1C"/>
                </a:solidFill>
                <a:latin typeface="Arial"/>
                <a:cs typeface="Arial"/>
              </a:rPr>
              <a:t>Một danh sách “phim hot” chung không hợp với tất cả mọi người.</a:t>
            </a:r>
          </a:p>
        </p:txBody>
      </p:sp>
      <p:cxnSp>
        <p:nvCxnSpPr>
          <p:cNvPr id="107" name="Line 107"/>
          <p:cNvCxnSpPr/>
          <p:nvPr/>
        </p:nvCxnSpPr>
        <p:spPr>
          <a:xfrm>
            <a:off x="8186928" y="3108960"/>
            <a:ext cx="3453384" cy="0"/>
          </a:xfrm>
          <a:prstGeom prst="line">
            <a:avLst/>
          </a:prstGeom>
          <a:ln w="9525">
            <a:solidFill>
              <a:srgbClr val="C6CFDB"/>
            </a:solidFill>
          </a:ln>
        </p:spPr>
      </p:cxnSp>
      <p:sp>
        <p:nvSpPr>
          <p:cNvPr id="108" name="TextBox 108"/>
          <p:cNvSpPr txBox="1"/>
          <p:nvPr/>
        </p:nvSpPr>
        <p:spPr>
          <a:xfrm>
            <a:off x="8186928" y="3200400"/>
            <a:ext cx="3453384" cy="1188720"/>
          </a:xfrm>
          <a:prstGeom prst="rect">
            <a:avLst/>
          </a:prstGeom>
          <a:noFill/>
        </p:spPr>
        <p:txBody>
          <a:bodyPr wrap="square" lIns="0" tIns="0" rIns="0" bIns="0" anchor="t">
            <a:noAutofit/>
          </a:bodyPr>
          <a:lstStyle/>
          <a:p>
            <a:pPr algn="l">
              <a:spcAft>
                <a:spcPts val="600"/>
              </a:spcAft>
            </a:pPr>
            <a:r>
              <a:rPr lang="vi-VN" sz="1600" b="1" i="0" dirty="0">
                <a:solidFill>
                  <a:srgbClr val="003366"/>
                </a:solidFill>
                <a:latin typeface="Arial"/>
                <a:cs typeface="Arial"/>
              </a:rPr>
              <a:t>Người dùng mới</a:t>
            </a:r>
          </a:p>
          <a:p>
            <a:pPr algn="l">
              <a:spcAft>
                <a:spcPts val="0"/>
              </a:spcAft>
            </a:pPr>
            <a:r>
              <a:rPr lang="vi-VN" sz="1500" b="0" i="0" dirty="0">
                <a:solidFill>
                  <a:srgbClr val="1C1C1C"/>
                </a:solidFill>
                <a:latin typeface="Arial"/>
                <a:cs typeface="Arial"/>
              </a:rPr>
              <a:t>Cần gợi ý được ngay khi người dùng chỉ mới chọn vài phim.</a:t>
            </a:r>
          </a:p>
        </p:txBody>
      </p:sp>
      <p:sp>
        <p:nvSpPr>
          <p:cNvPr id="109" name="TextBox 109"/>
          <p:cNvSpPr txBox="1"/>
          <p:nvPr/>
        </p:nvSpPr>
        <p:spPr>
          <a:xfrm>
            <a:off x="548640" y="4572000"/>
            <a:ext cx="11091672" cy="640080"/>
          </a:xfrm>
          <a:prstGeom prst="rect">
            <a:avLst/>
          </a:prstGeom>
          <a:noFill/>
        </p:spPr>
        <p:txBody>
          <a:bodyPr wrap="square" lIns="0" tIns="0" rIns="0" bIns="0" anchor="t">
            <a:noAutofit/>
          </a:bodyPr>
          <a:lstStyle/>
          <a:p>
            <a:pPr algn="l">
              <a:spcAft>
                <a:spcPts val="0"/>
              </a:spcAft>
            </a:pPr>
            <a:r>
              <a:rPr lang="vi-VN" sz="1400" b="1" i="0" dirty="0">
                <a:solidFill>
                  <a:srgbClr val="5F636B"/>
                </a:solidFill>
                <a:latin typeface="Arial"/>
                <a:cs typeface="Arial"/>
              </a:rPr>
              <a:t>Phạm vi: </a:t>
            </a:r>
            <a:r>
              <a:rPr lang="vi-VN" sz="1400" b="0" i="0" dirty="0">
                <a:solidFill>
                  <a:srgbClr val="5F636B"/>
                </a:solidFill>
                <a:latin typeface="Arial"/>
                <a:cs typeface="Arial"/>
              </a:rPr>
              <a:t>dữ liệu MovieLens (người dùng chấm phim 0.5–5★); đánh giá offline trên dữ liệu lịch sử; có giao diện demo để thử gợi ý.</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Phát biểu bài toán</a:t>
            </a:r>
          </a:p>
        </p:txBody>
      </p:sp>
      <p:sp>
        <p:nvSpPr>
          <p:cNvPr id="3" name="Rounded Rectangle 2"/>
          <p:cNvSpPr/>
          <p:nvPr/>
        </p:nvSpPr>
        <p:spPr>
          <a:xfrm>
            <a:off x="548640" y="1148275"/>
            <a:ext cx="5360974" cy="3239965"/>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47540" y="1438421"/>
            <a:ext cx="212773" cy="212773"/>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49705" y="1361049"/>
            <a:ext cx="4190187" cy="386861"/>
          </a:xfrm>
          <a:prstGeom prst="rect">
            <a:avLst/>
          </a:prstGeom>
          <a:noFill/>
        </p:spPr>
        <p:txBody>
          <a:bodyPr wrap="square" lIns="0" tIns="0" rIns="0" bIns="0" anchor="ctr">
            <a:spAutoFit/>
          </a:bodyPr>
          <a:lstStyle/>
          <a:p>
            <a:pPr algn="l">
              <a:spcAft>
                <a:spcPts val="600"/>
              </a:spcAft>
            </a:pPr>
            <a:r>
              <a:rPr sz="1400" b="1" i="0">
                <a:solidFill>
                  <a:srgbClr val="003366"/>
                </a:solidFill>
                <a:latin typeface="Arial"/>
              </a:rPr>
              <a:t>MỤC TIÊU CHÍNH</a:t>
            </a:r>
          </a:p>
        </p:txBody>
      </p:sp>
      <p:sp>
        <p:nvSpPr>
          <p:cNvPr id="6" name="TextBox 5"/>
          <p:cNvSpPr txBox="1"/>
          <p:nvPr/>
        </p:nvSpPr>
        <p:spPr>
          <a:xfrm>
            <a:off x="918362" y="1825283"/>
            <a:ext cx="4683150" cy="2417884"/>
          </a:xfrm>
          <a:prstGeom prst="rect">
            <a:avLst/>
          </a:prstGeom>
          <a:noFill/>
        </p:spPr>
        <p:txBody>
          <a:bodyPr wrap="square" lIns="0" tIns="0" rIns="0" bIns="0" anchor="t">
            <a:spAutoFit/>
          </a:bodyPr>
          <a:lstStyle/>
          <a:p>
            <a:pPr algn="l">
              <a:spcAft>
                <a:spcPts val="1000"/>
              </a:spcAft>
            </a:pPr>
            <a:r>
              <a:rPr sz="2200" b="1" i="0">
                <a:solidFill>
                  <a:srgbClr val="1C1C1C"/>
                </a:solidFill>
                <a:latin typeface="Arial"/>
              </a:rPr>
              <a:t>Top-N recommendation</a:t>
            </a:r>
          </a:p>
          <a:p>
            <a:pPr marL="228600" indent="-228600" algn="l">
              <a:spcAft>
                <a:spcPts val="600"/>
              </a:spcAft>
              <a:buClr>
                <a:srgbClr val="003366"/>
              </a:buClr>
              <a:buFont typeface="Arial"/>
              <a:buChar char="▪"/>
            </a:pPr>
            <a:r>
              <a:rPr sz="1600" b="0" i="0">
                <a:solidFill>
                  <a:srgbClr val="1C1C1C"/>
                </a:solidFill>
                <a:latin typeface="Arial"/>
              </a:rPr>
              <a:t>Đầu vào: lịch sử chấm điểm của người dùng u</a:t>
            </a:r>
          </a:p>
          <a:p>
            <a:pPr marL="228600" indent="-228600" algn="l">
              <a:spcAft>
                <a:spcPts val="600"/>
              </a:spcAft>
              <a:buClr>
                <a:srgbClr val="003366"/>
              </a:buClr>
              <a:buFont typeface="Arial"/>
              <a:buChar char="▪"/>
            </a:pPr>
            <a:r>
              <a:rPr sz="1600" b="0" i="0">
                <a:solidFill>
                  <a:srgbClr val="1C1C1C"/>
                </a:solidFill>
                <a:latin typeface="Arial"/>
              </a:rPr>
              <a:t>Xếp hạng toàn bộ phim u chưa xem</a:t>
            </a:r>
          </a:p>
          <a:p>
            <a:pPr marL="228600" indent="-228600" algn="l">
              <a:spcAft>
                <a:spcPts val="600"/>
              </a:spcAft>
              <a:buClr>
                <a:srgbClr val="003366"/>
              </a:buClr>
              <a:buFont typeface="Arial"/>
              <a:buChar char="▪"/>
            </a:pPr>
            <a:r>
              <a:rPr sz="1600" b="0" i="0">
                <a:solidFill>
                  <a:srgbClr val="1C1C1C"/>
                </a:solidFill>
                <a:latin typeface="Arial"/>
              </a:rPr>
              <a:t>Trả về N = 10 phim u có khả năng thích nhất</a:t>
            </a:r>
          </a:p>
        </p:txBody>
      </p:sp>
      <p:sp>
        <p:nvSpPr>
          <p:cNvPr id="7" name="Rounded Rectangle 6"/>
          <p:cNvSpPr/>
          <p:nvPr/>
        </p:nvSpPr>
        <p:spPr>
          <a:xfrm>
            <a:off x="6279337" y="1148275"/>
            <a:ext cx="5360974" cy="3239965"/>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678237" y="1438421"/>
            <a:ext cx="212773" cy="212773"/>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80402" y="1361049"/>
            <a:ext cx="4190187" cy="386861"/>
          </a:xfrm>
          <a:prstGeom prst="rect">
            <a:avLst/>
          </a:prstGeom>
          <a:noFill/>
        </p:spPr>
        <p:txBody>
          <a:bodyPr wrap="square" lIns="0" tIns="0" rIns="0" bIns="0" anchor="ctr">
            <a:spAutoFit/>
          </a:bodyPr>
          <a:lstStyle/>
          <a:p>
            <a:pPr algn="l">
              <a:spcAft>
                <a:spcPts val="600"/>
              </a:spcAft>
            </a:pPr>
            <a:r>
              <a:rPr sz="1400" b="1" i="0">
                <a:solidFill>
                  <a:srgbClr val="003366"/>
                </a:solidFill>
                <a:latin typeface="Arial"/>
              </a:rPr>
              <a:t>MỤC TIÊU PHỤ</a:t>
            </a:r>
          </a:p>
        </p:txBody>
      </p:sp>
      <p:sp>
        <p:nvSpPr>
          <p:cNvPr id="10" name="TextBox 9"/>
          <p:cNvSpPr txBox="1"/>
          <p:nvPr/>
        </p:nvSpPr>
        <p:spPr>
          <a:xfrm>
            <a:off x="6649059" y="1825283"/>
            <a:ext cx="4683150" cy="2417884"/>
          </a:xfrm>
          <a:prstGeom prst="rect">
            <a:avLst/>
          </a:prstGeom>
          <a:noFill/>
        </p:spPr>
        <p:txBody>
          <a:bodyPr wrap="square" lIns="0" tIns="0" rIns="0" bIns="0" anchor="t">
            <a:spAutoFit/>
          </a:bodyPr>
          <a:lstStyle/>
          <a:p>
            <a:pPr algn="l">
              <a:spcAft>
                <a:spcPts val="1000"/>
              </a:spcAft>
            </a:pPr>
            <a:r>
              <a:rPr sz="2200" b="1" i="0">
                <a:solidFill>
                  <a:srgbClr val="1C1C1C"/>
                </a:solidFill>
                <a:latin typeface="Arial"/>
              </a:rPr>
              <a:t>Rating prediction</a:t>
            </a:r>
          </a:p>
          <a:p>
            <a:pPr marL="228600" indent="-228600" algn="l">
              <a:spcAft>
                <a:spcPts val="600"/>
              </a:spcAft>
              <a:buClr>
                <a:srgbClr val="003366"/>
              </a:buClr>
              <a:buFont typeface="Arial"/>
              <a:buChar char="▪"/>
            </a:pPr>
            <a:r>
              <a:rPr sz="1600" b="0" i="0">
                <a:solidFill>
                  <a:srgbClr val="1C1C1C"/>
                </a:solidFill>
                <a:latin typeface="Arial"/>
              </a:rPr>
              <a:t>Dự đoán điểm r̂ᵤᵢ mà u sẽ chấm cho phim i</a:t>
            </a:r>
          </a:p>
          <a:p>
            <a:pPr marL="228600" indent="-228600" algn="l">
              <a:spcAft>
                <a:spcPts val="600"/>
              </a:spcAft>
              <a:buClr>
                <a:srgbClr val="003366"/>
              </a:buClr>
              <a:buFont typeface="Arial"/>
              <a:buChar char="▪"/>
            </a:pPr>
            <a:r>
              <a:rPr sz="1600" b="0" i="0">
                <a:solidFill>
                  <a:srgbClr val="1C1C1C"/>
                </a:solidFill>
                <a:latin typeface="Arial"/>
              </a:rPr>
              <a:t>Thang điểm 0.5 → 5★, bước 0.5</a:t>
            </a:r>
          </a:p>
          <a:p>
            <a:pPr marL="228600" indent="-228600" algn="l">
              <a:spcAft>
                <a:spcPts val="600"/>
              </a:spcAft>
              <a:buClr>
                <a:srgbClr val="003366"/>
              </a:buClr>
              <a:buFont typeface="Arial"/>
              <a:buChar char="▪"/>
            </a:pPr>
            <a:r>
              <a:rPr sz="1600" b="0" i="0">
                <a:solidFill>
                  <a:srgbClr val="1C1C1C"/>
                </a:solidFill>
                <a:latin typeface="Arial"/>
              </a:rPr>
              <a:t>Dùng để hiển thị “điểm dự đoán” cho từng phim</a:t>
            </a:r>
          </a:p>
        </p:txBody>
      </p:sp>
      <p:sp>
        <p:nvSpPr>
          <p:cNvPr id="11" name="Rounded Rectangle 10"/>
          <p:cNvSpPr/>
          <p:nvPr/>
        </p:nvSpPr>
        <p:spPr>
          <a:xfrm>
            <a:off x="548640" y="4678386"/>
            <a:ext cx="11091672" cy="1160584"/>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8362" y="4678386"/>
            <a:ext cx="10352227" cy="1160584"/>
          </a:xfrm>
          <a:prstGeom prst="rect">
            <a:avLst/>
          </a:prstGeom>
          <a:noFill/>
        </p:spPr>
        <p:txBody>
          <a:bodyPr wrap="square" lIns="0" tIns="0" rIns="0" bIns="0" anchor="ctr">
            <a:spAutoFit/>
          </a:bodyPr>
          <a:lstStyle/>
          <a:p>
            <a:pPr algn="l">
              <a:spcAft>
                <a:spcPts val="600"/>
              </a:spcAft>
            </a:pPr>
            <a:r>
              <a:rPr sz="1800" b="1" i="0">
                <a:solidFill>
                  <a:srgbClr val="1C1C1C"/>
                </a:solidFill>
                <a:latin typeface="Arial"/>
              </a:rPr>
              <a:t>Hai mục tiêu không trùng nhau: </a:t>
            </a:r>
            <a:r>
              <a:rPr sz="1800" b="0" i="0">
                <a:solidFill>
                  <a:srgbClr val="1C1C1C"/>
                </a:solidFill>
                <a:latin typeface="Arial"/>
              </a:rPr>
              <a:t>mô hình dự đoán điểm chính xác chưa chắc xếp hạng tốt, nên mỗi mục tiêu được đánh giá bằng chỉ số riêng.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Đầu vào và đầu ra của hệ thống</a:t>
            </a:r>
          </a:p>
        </p:txBody>
      </p:sp>
      <p:sp>
        <p:nvSpPr>
          <p:cNvPr id="110" name="TextBox 110"/>
          <p:cNvSpPr txBox="1"/>
          <p:nvPr/>
        </p:nvSpPr>
        <p:spPr>
          <a:xfrm>
            <a:off x="548640" y="1005840"/>
            <a:ext cx="4206240" cy="274320"/>
          </a:xfrm>
          <a:prstGeom prst="rect">
            <a:avLst/>
          </a:prstGeom>
          <a:noFill/>
        </p:spPr>
        <p:txBody>
          <a:bodyPr wrap="square" lIns="0" tIns="0" rIns="0" bIns="0" anchor="t">
            <a:noAutofit/>
          </a:bodyPr>
          <a:lstStyle/>
          <a:p>
            <a:pPr algn="l">
              <a:spcAft>
                <a:spcPts val="0"/>
              </a:spcAft>
            </a:pPr>
            <a:r>
              <a:rPr lang="vi-VN" sz="1200" b="1" i="0" dirty="0">
                <a:solidFill>
                  <a:srgbClr val="5F636B"/>
                </a:solidFill>
                <a:latin typeface="Arial"/>
                <a:cs typeface="Arial"/>
              </a:rPr>
              <a:t>ĐẦU VÀO</a:t>
            </a:r>
          </a:p>
        </p:txBody>
      </p:sp>
      <p:sp>
        <p:nvSpPr>
          <p:cNvPr id="111" name="TextBox 111"/>
          <p:cNvSpPr txBox="1"/>
          <p:nvPr/>
        </p:nvSpPr>
        <p:spPr>
          <a:xfrm>
            <a:off x="7040312" y="1005840"/>
            <a:ext cx="4600000" cy="274320"/>
          </a:xfrm>
          <a:prstGeom prst="rect">
            <a:avLst/>
          </a:prstGeom>
          <a:noFill/>
        </p:spPr>
        <p:txBody>
          <a:bodyPr wrap="square" lIns="0" tIns="0" rIns="0" bIns="0" anchor="t">
            <a:noAutofit/>
          </a:bodyPr>
          <a:lstStyle/>
          <a:p>
            <a:pPr algn="l">
              <a:spcAft>
                <a:spcPts val="0"/>
              </a:spcAft>
            </a:pPr>
            <a:r>
              <a:rPr lang="vi-VN" sz="1200" b="1" i="0" dirty="0">
                <a:solidFill>
                  <a:srgbClr val="5F636B"/>
                </a:solidFill>
                <a:latin typeface="Arial"/>
                <a:cs typeface="Arial"/>
              </a:rPr>
              <a:t>ĐẦU RA</a:t>
            </a:r>
          </a:p>
        </p:txBody>
      </p:sp>
      <p:sp>
        <p:nvSpPr>
          <p:cNvPr id="112" name="Shape 112"/>
          <p:cNvSpPr/>
          <p:nvPr/>
        </p:nvSpPr>
        <p:spPr>
          <a:xfrm>
            <a:off x="548640" y="1325880"/>
            <a:ext cx="4206240" cy="3337560"/>
          </a:xfrm>
          <a:prstGeom prst="roundRect">
            <a:avLst>
              <a:gd name="adj" fmla="val 8000"/>
            </a:avLst>
          </a:prstGeom>
          <a:noFill/>
          <a:ln w="9525">
            <a:solidFill>
              <a:srgbClr val="C6CFDB"/>
            </a:solidFill>
          </a:ln>
        </p:spPr>
        <p:txBody>
          <a:bodyPr lIns="0" tIns="0" rIns="0" bIns="0" rtlCol="0" anchor="ctr">
            <a:noAutofit/>
          </a:bodyPr>
          <a:lstStyle/>
          <a:p>
            <a:endParaRPr lang="vi-VN"/>
          </a:p>
        </p:txBody>
      </p:sp>
      <p:sp>
        <p:nvSpPr>
          <p:cNvPr id="113" name="Shape 113"/>
          <p:cNvSpPr/>
          <p:nvPr/>
        </p:nvSpPr>
        <p:spPr>
          <a:xfrm>
            <a:off x="7040312" y="1325880"/>
            <a:ext cx="4600000" cy="3337560"/>
          </a:xfrm>
          <a:prstGeom prst="roundRect">
            <a:avLst>
              <a:gd name="adj" fmla="val 8000"/>
            </a:avLst>
          </a:prstGeom>
          <a:noFill/>
          <a:ln w="9525">
            <a:solidFill>
              <a:srgbClr val="C6CFDB"/>
            </a:solidFill>
          </a:ln>
        </p:spPr>
        <p:txBody>
          <a:bodyPr lIns="0" tIns="0" rIns="0" bIns="0" rtlCol="0" anchor="ctr">
            <a:noAutofit/>
          </a:bodyPr>
          <a:lstStyle/>
          <a:p>
            <a:endParaRPr lang="vi-VN"/>
          </a:p>
        </p:txBody>
      </p:sp>
      <p:sp>
        <p:nvSpPr>
          <p:cNvPr id="114" name="Shape 114"/>
          <p:cNvSpPr/>
          <p:nvPr/>
        </p:nvSpPr>
        <p:spPr>
          <a:xfrm>
            <a:off x="5120356" y="2400300"/>
            <a:ext cx="1554480" cy="1188720"/>
          </a:xfrm>
          <a:prstGeom prst="roundRect">
            <a:avLst>
              <a:gd name="adj" fmla="val 8000"/>
            </a:avLst>
          </a:prstGeom>
          <a:solidFill>
            <a:srgbClr val="003366"/>
          </a:solidFill>
          <a:ln>
            <a:noFill/>
          </a:ln>
        </p:spPr>
        <p:txBody>
          <a:bodyPr lIns="0" tIns="0" rIns="0" bIns="0" rtlCol="0" anchor="ctr">
            <a:noAutofit/>
          </a:bodyPr>
          <a:lstStyle/>
          <a:p>
            <a:pPr algn="ctr">
              <a:spcAft>
                <a:spcPts val="0"/>
              </a:spcAft>
            </a:pPr>
            <a:r>
              <a:rPr lang="vi-VN" sz="1600" b="1" i="0" dirty="0">
                <a:solidFill>
                  <a:srgbClr val="FFFFFF"/>
                </a:solidFill>
                <a:latin typeface="Arial"/>
                <a:cs typeface="Arial"/>
              </a:rPr>
              <a:t>HỆ GỢI Ý</a:t>
            </a:r>
          </a:p>
        </p:txBody>
      </p:sp>
      <p:sp>
        <p:nvSpPr>
          <p:cNvPr id="115" name="Shape 115"/>
          <p:cNvSpPr/>
          <p:nvPr/>
        </p:nvSpPr>
        <p:spPr>
          <a:xfrm>
            <a:off x="4800600" y="2857500"/>
            <a:ext cx="274036" cy="274320"/>
          </a:xfrm>
          <a:prstGeom prst="rightArrow">
            <a:avLst/>
          </a:prstGeom>
          <a:solidFill>
            <a:srgbClr val="9AA5B4"/>
          </a:solidFill>
          <a:ln>
            <a:noFill/>
          </a:ln>
        </p:spPr>
        <p:txBody>
          <a:bodyPr lIns="0" tIns="0" rIns="0" bIns="0" rtlCol="0" anchor="ctr">
            <a:noAutofit/>
          </a:bodyPr>
          <a:lstStyle/>
          <a:p>
            <a:endParaRPr lang="vi-VN"/>
          </a:p>
        </p:txBody>
      </p:sp>
      <p:sp>
        <p:nvSpPr>
          <p:cNvPr id="116" name="Shape 116"/>
          <p:cNvSpPr/>
          <p:nvPr/>
        </p:nvSpPr>
        <p:spPr>
          <a:xfrm>
            <a:off x="6720556" y="2857500"/>
            <a:ext cx="274036" cy="274320"/>
          </a:xfrm>
          <a:prstGeom prst="rightArrow">
            <a:avLst/>
          </a:prstGeom>
          <a:solidFill>
            <a:srgbClr val="9AA5B4"/>
          </a:solidFill>
          <a:ln>
            <a:noFill/>
          </a:ln>
        </p:spPr>
        <p:txBody>
          <a:bodyPr lIns="0" tIns="0" rIns="0" bIns="0" rtlCol="0" anchor="ctr">
            <a:noAutofit/>
          </a:bodyPr>
          <a:lstStyle/>
          <a:p>
            <a:endParaRPr lang="vi-VN"/>
          </a:p>
        </p:txBody>
      </p:sp>
      <p:sp>
        <p:nvSpPr>
          <p:cNvPr id="117" name="TextBox 117"/>
          <p:cNvSpPr txBox="1"/>
          <p:nvPr/>
        </p:nvSpPr>
        <p:spPr>
          <a:xfrm>
            <a:off x="749808" y="1527048"/>
            <a:ext cx="3803904" cy="1150000"/>
          </a:xfrm>
          <a:prstGeom prst="rect">
            <a:avLst/>
          </a:prstGeom>
          <a:noFill/>
        </p:spPr>
        <p:txBody>
          <a:bodyPr wrap="square" lIns="0" tIns="0" rIns="0" bIns="0" anchor="t">
            <a:noAutofit/>
          </a:bodyPr>
          <a:lstStyle/>
          <a:p>
            <a:pPr algn="l">
              <a:spcAft>
                <a:spcPts val="300"/>
              </a:spcAft>
            </a:pPr>
            <a:r>
              <a:rPr lang="vi-VN" sz="1500" b="1" i="0" dirty="0">
                <a:solidFill>
                  <a:srgbClr val="1C1C1C"/>
                </a:solidFill>
                <a:latin typeface="Arial"/>
                <a:cs typeface="Arial"/>
              </a:rPr>
              <a:t>Lịch sử chấm điểm của người dùng</a:t>
            </a:r>
          </a:p>
          <a:p>
            <a:pPr algn="l">
              <a:spcAft>
                <a:spcPts val="200"/>
              </a:spcAft>
            </a:pPr>
            <a:r>
              <a:rPr lang="vi-VN" sz="1400" b="0" i="0" dirty="0">
                <a:solidFill>
                  <a:srgbClr val="003366"/>
                </a:solidFill>
                <a:latin typeface="Arial"/>
                <a:cs typeface="Arial"/>
              </a:rPr>
              <a:t>Interstellar (2014)   </a:t>
            </a:r>
            <a:r>
              <a:rPr lang="vi-VN" sz="1400" b="1" i="0" dirty="0">
                <a:solidFill>
                  <a:srgbClr val="003366"/>
                </a:solidFill>
                <a:latin typeface="Arial"/>
                <a:cs typeface="Arial"/>
              </a:rPr>
              <a:t>5★</a:t>
            </a:r>
          </a:p>
          <a:p>
            <a:pPr algn="l">
              <a:spcAft>
                <a:spcPts val="200"/>
              </a:spcAft>
            </a:pPr>
            <a:r>
              <a:rPr lang="vi-VN" sz="1400" b="0" i="0" dirty="0">
                <a:solidFill>
                  <a:srgbClr val="003366"/>
                </a:solidFill>
                <a:latin typeface="Arial"/>
                <a:cs typeface="Arial"/>
              </a:rPr>
              <a:t>Inception (2010)   </a:t>
            </a:r>
            <a:r>
              <a:rPr lang="vi-VN" sz="1400" b="1" i="0" dirty="0">
                <a:solidFill>
                  <a:srgbClr val="003366"/>
                </a:solidFill>
                <a:latin typeface="Arial"/>
                <a:cs typeface="Arial"/>
              </a:rPr>
              <a:t>5★</a:t>
            </a:r>
          </a:p>
          <a:p>
            <a:pPr algn="l">
              <a:spcAft>
                <a:spcPts val="200"/>
              </a:spcAft>
            </a:pPr>
            <a:r>
              <a:rPr lang="vi-VN" sz="1400" b="0" i="0" dirty="0">
                <a:solidFill>
                  <a:srgbClr val="003366"/>
                </a:solidFill>
                <a:latin typeface="Arial"/>
                <a:cs typeface="Arial"/>
              </a:rPr>
              <a:t>The Matrix (1999)   </a:t>
            </a:r>
            <a:r>
              <a:rPr lang="vi-VN" sz="1400" b="1" i="0" dirty="0">
                <a:solidFill>
                  <a:srgbClr val="003366"/>
                </a:solidFill>
                <a:latin typeface="Arial"/>
                <a:cs typeface="Arial"/>
              </a:rPr>
              <a:t>4.5★</a:t>
            </a:r>
          </a:p>
        </p:txBody>
      </p:sp>
      <p:cxnSp>
        <p:nvCxnSpPr>
          <p:cNvPr id="118" name="Line 118"/>
          <p:cNvCxnSpPr/>
          <p:nvPr/>
        </p:nvCxnSpPr>
        <p:spPr>
          <a:xfrm>
            <a:off x="749808" y="2651760"/>
            <a:ext cx="3803904" cy="0"/>
          </a:xfrm>
          <a:prstGeom prst="line">
            <a:avLst/>
          </a:prstGeom>
          <a:ln w="9525">
            <a:solidFill>
              <a:srgbClr val="C6CFDB"/>
            </a:solidFill>
          </a:ln>
        </p:spPr>
      </p:cxnSp>
      <p:sp>
        <p:nvSpPr>
          <p:cNvPr id="119" name="TextBox 119"/>
          <p:cNvSpPr txBox="1"/>
          <p:nvPr/>
        </p:nvSpPr>
        <p:spPr>
          <a:xfrm>
            <a:off x="749808" y="2788920"/>
            <a:ext cx="3803904" cy="760000"/>
          </a:xfrm>
          <a:prstGeom prst="rect">
            <a:avLst/>
          </a:prstGeom>
          <a:noFill/>
        </p:spPr>
        <p:txBody>
          <a:bodyPr wrap="square" lIns="0" tIns="0" rIns="0" bIns="0" anchor="t">
            <a:noAutofit/>
          </a:bodyPr>
          <a:lstStyle/>
          <a:p>
            <a:pPr algn="l">
              <a:spcAft>
                <a:spcPts val="300"/>
              </a:spcAft>
            </a:pPr>
            <a:r>
              <a:rPr lang="vi-VN" sz="1500" b="1" i="0" dirty="0">
                <a:solidFill>
                  <a:srgbClr val="1C1C1C"/>
                </a:solidFill>
                <a:latin typeface="Arial"/>
                <a:cs typeface="Arial"/>
              </a:rPr>
              <a:t>Thông tin phim</a:t>
            </a:r>
          </a:p>
          <a:p>
            <a:pPr algn="l">
              <a:spcAft>
                <a:spcPts val="200"/>
              </a:spcAft>
            </a:pPr>
            <a:r>
              <a:rPr lang="vi-VN" sz="1400" b="0" i="0" dirty="0">
                <a:solidFill>
                  <a:srgbClr val="1C1C1C"/>
                </a:solidFill>
                <a:latin typeface="Arial"/>
                <a:cs typeface="Arial"/>
              </a:rPr>
              <a:t>thể loại, tag, năm phát hành</a:t>
            </a:r>
          </a:p>
        </p:txBody>
      </p:sp>
      <p:cxnSp>
        <p:nvCxnSpPr>
          <p:cNvPr id="120" name="Line 120"/>
          <p:cNvCxnSpPr/>
          <p:nvPr/>
        </p:nvCxnSpPr>
        <p:spPr>
          <a:xfrm>
            <a:off x="749808" y="3566160"/>
            <a:ext cx="3803904" cy="0"/>
          </a:xfrm>
          <a:prstGeom prst="line">
            <a:avLst/>
          </a:prstGeom>
          <a:ln w="9525">
            <a:solidFill>
              <a:srgbClr val="C6CFDB"/>
            </a:solidFill>
          </a:ln>
        </p:spPr>
      </p:cxnSp>
      <p:sp>
        <p:nvSpPr>
          <p:cNvPr id="121" name="TextBox 121"/>
          <p:cNvSpPr txBox="1"/>
          <p:nvPr/>
        </p:nvSpPr>
        <p:spPr>
          <a:xfrm>
            <a:off x="749808" y="3703320"/>
            <a:ext cx="3803904" cy="760000"/>
          </a:xfrm>
          <a:prstGeom prst="rect">
            <a:avLst/>
          </a:prstGeom>
          <a:noFill/>
        </p:spPr>
        <p:txBody>
          <a:bodyPr wrap="square" lIns="0" tIns="0" rIns="0" bIns="0" anchor="t">
            <a:noAutofit/>
          </a:bodyPr>
          <a:lstStyle/>
          <a:p>
            <a:pPr algn="l">
              <a:spcAft>
                <a:spcPts val="300"/>
              </a:spcAft>
            </a:pPr>
            <a:r>
              <a:rPr lang="vi-VN" sz="1500" b="1" i="0" dirty="0">
                <a:solidFill>
                  <a:srgbClr val="1C1C1C"/>
                </a:solidFill>
                <a:latin typeface="Arial"/>
                <a:cs typeface="Arial"/>
              </a:rPr>
              <a:t>Tuỳ chọn</a:t>
            </a:r>
          </a:p>
          <a:p>
            <a:pPr algn="l">
              <a:spcAft>
                <a:spcPts val="200"/>
              </a:spcAft>
            </a:pPr>
            <a:r>
              <a:rPr lang="vi-VN" sz="1400" b="0" i="0" dirty="0">
                <a:solidFill>
                  <a:srgbClr val="1C1C1C"/>
                </a:solidFill>
                <a:latin typeface="Arial"/>
                <a:cs typeface="Arial"/>
              </a:rPr>
              <a:t>số phim N = 10, lọc theo thể loại</a:t>
            </a:r>
          </a:p>
        </p:txBody>
      </p:sp>
      <p:sp>
        <p:nvSpPr>
          <p:cNvPr id="122" name="TextBox 122"/>
          <p:cNvSpPr txBox="1"/>
          <p:nvPr/>
        </p:nvSpPr>
        <p:spPr>
          <a:xfrm>
            <a:off x="7241480" y="1527048"/>
            <a:ext cx="4197664" cy="1400000"/>
          </a:xfrm>
          <a:prstGeom prst="rect">
            <a:avLst/>
          </a:prstGeom>
          <a:noFill/>
        </p:spPr>
        <p:txBody>
          <a:bodyPr wrap="square" lIns="0" tIns="0" rIns="0" bIns="0" anchor="t">
            <a:noAutofit/>
          </a:bodyPr>
          <a:lstStyle/>
          <a:p>
            <a:pPr algn="l">
              <a:spcAft>
                <a:spcPts val="300"/>
              </a:spcAft>
            </a:pPr>
            <a:r>
              <a:rPr lang="vi-VN" sz="1500" b="1" i="0" dirty="0">
                <a:solidFill>
                  <a:srgbClr val="1C1C1C"/>
                </a:solidFill>
                <a:latin typeface="Arial"/>
                <a:cs typeface="Arial"/>
              </a:rPr>
              <a:t>Top-N phim chưa xem, kèm rating dự đoán</a:t>
            </a:r>
          </a:p>
          <a:p>
            <a:pPr algn="l">
              <a:spcAft>
                <a:spcPts val="200"/>
              </a:spcAft>
            </a:pPr>
            <a:r>
              <a:rPr lang="vi-VN" sz="1400" b="0" i="0" dirty="0">
                <a:solidFill>
                  <a:srgbClr val="003366"/>
                </a:solidFill>
                <a:latin typeface="Arial"/>
                <a:cs typeface="Arial"/>
              </a:rPr>
              <a:t>1. The Shawshank Redemption (1994)   </a:t>
            </a:r>
            <a:r>
              <a:rPr lang="vi-VN" sz="1400" b="1" i="0" dirty="0">
                <a:solidFill>
                  <a:srgbClr val="003366"/>
                </a:solidFill>
                <a:latin typeface="Arial"/>
                <a:cs typeface="Arial"/>
              </a:rPr>
              <a:t>4.60★</a:t>
            </a:r>
          </a:p>
          <a:p>
            <a:pPr algn="l">
              <a:spcAft>
                <a:spcPts val="200"/>
              </a:spcAft>
            </a:pPr>
            <a:r>
              <a:rPr lang="vi-VN" sz="1400" b="0" i="0" dirty="0">
                <a:solidFill>
                  <a:srgbClr val="003366"/>
                </a:solidFill>
                <a:latin typeface="Arial"/>
                <a:cs typeface="Arial"/>
              </a:rPr>
              <a:t>2. The Dark Knight (2008)   </a:t>
            </a:r>
            <a:r>
              <a:rPr lang="vi-VN" sz="1400" b="1" i="0" dirty="0">
                <a:solidFill>
                  <a:srgbClr val="003366"/>
                </a:solidFill>
                <a:latin typeface="Arial"/>
                <a:cs typeface="Arial"/>
              </a:rPr>
              <a:t>4.36★</a:t>
            </a:r>
          </a:p>
          <a:p>
            <a:pPr algn="l">
              <a:spcAft>
                <a:spcPts val="200"/>
              </a:spcAft>
            </a:pPr>
            <a:r>
              <a:rPr lang="vi-VN" sz="1400" b="0" i="0" dirty="0">
                <a:solidFill>
                  <a:srgbClr val="003366"/>
                </a:solidFill>
                <a:latin typeface="Arial"/>
                <a:cs typeface="Arial"/>
              </a:rPr>
              <a:t>3. The Godfather (1972)   </a:t>
            </a:r>
            <a:r>
              <a:rPr lang="vi-VN" sz="1400" b="1" i="0" dirty="0">
                <a:solidFill>
                  <a:srgbClr val="003366"/>
                </a:solidFill>
                <a:latin typeface="Arial"/>
                <a:cs typeface="Arial"/>
              </a:rPr>
              <a:t>4.43★</a:t>
            </a:r>
          </a:p>
          <a:p>
            <a:pPr algn="l">
              <a:spcAft>
                <a:spcPts val="200"/>
              </a:spcAft>
            </a:pPr>
            <a:r>
              <a:rPr lang="vi-VN" sz="1400" b="0" i="0" dirty="0">
                <a:solidFill>
                  <a:srgbClr val="5F636B"/>
                </a:solidFill>
                <a:latin typeface="Arial"/>
                <a:cs typeface="Arial"/>
              </a:rPr>
              <a:t>… (đủ 10 phim)</a:t>
            </a:r>
          </a:p>
        </p:txBody>
      </p:sp>
      <p:cxnSp>
        <p:nvCxnSpPr>
          <p:cNvPr id="123" name="Line 123"/>
          <p:cNvCxnSpPr/>
          <p:nvPr/>
        </p:nvCxnSpPr>
        <p:spPr>
          <a:xfrm>
            <a:off x="7241480" y="3017520"/>
            <a:ext cx="4197664" cy="0"/>
          </a:xfrm>
          <a:prstGeom prst="line">
            <a:avLst/>
          </a:prstGeom>
          <a:ln w="9525">
            <a:solidFill>
              <a:srgbClr val="C6CFDB"/>
            </a:solidFill>
          </a:ln>
        </p:spPr>
      </p:cxnSp>
      <p:sp>
        <p:nvSpPr>
          <p:cNvPr id="124" name="TextBox 124"/>
          <p:cNvSpPr txBox="1"/>
          <p:nvPr/>
        </p:nvSpPr>
        <p:spPr>
          <a:xfrm>
            <a:off x="7241480" y="3154680"/>
            <a:ext cx="4197664" cy="1400000"/>
          </a:xfrm>
          <a:prstGeom prst="rect">
            <a:avLst/>
          </a:prstGeom>
          <a:noFill/>
        </p:spPr>
        <p:txBody>
          <a:bodyPr wrap="square" lIns="0" tIns="0" rIns="0" bIns="0" anchor="t">
            <a:noAutofit/>
          </a:bodyPr>
          <a:lstStyle/>
          <a:p>
            <a:pPr algn="l">
              <a:spcAft>
                <a:spcPts val="300"/>
              </a:spcAft>
            </a:pPr>
            <a:r>
              <a:rPr lang="vi-VN" sz="1500" b="1" i="0" dirty="0">
                <a:solidFill>
                  <a:srgbClr val="1C1C1C"/>
                </a:solidFill>
                <a:latin typeface="Arial"/>
                <a:cs typeface="Arial"/>
              </a:rPr>
              <a:t>Vì sao gợi ý The Dark Knight?</a:t>
            </a:r>
          </a:p>
          <a:p>
            <a:pPr algn="l">
              <a:spcAft>
                <a:spcPts val="200"/>
              </a:spcAft>
            </a:pPr>
            <a:r>
              <a:rPr lang="vi-VN" sz="1400" b="0" i="0" dirty="0">
                <a:solidFill>
                  <a:srgbClr val="1C1C1C"/>
                </a:solidFill>
                <a:latin typeface="Arial"/>
                <a:cs typeface="Arial"/>
              </a:rPr>
              <a:t>Vì bạn thích Inception và Interstellar, và phim cùng thể loại Crime, IMAX với hai phim đó.</a:t>
            </a:r>
          </a:p>
        </p:txBody>
      </p:sp>
      <p:sp>
        <p:nvSpPr>
          <p:cNvPr id="125" name="TextBox 125"/>
          <p:cNvSpPr txBox="1"/>
          <p:nvPr/>
        </p:nvSpPr>
        <p:spPr>
          <a:xfrm>
            <a:off x="548640" y="4800600"/>
            <a:ext cx="11091672" cy="320040"/>
          </a:xfrm>
          <a:prstGeom prst="rect">
            <a:avLst/>
          </a:prstGeom>
          <a:noFill/>
        </p:spPr>
        <p:txBody>
          <a:bodyPr wrap="square" lIns="0" tIns="0" rIns="0" bIns="0" anchor="t">
            <a:noAutofit/>
          </a:bodyPr>
          <a:lstStyle/>
          <a:p>
            <a:pPr algn="l">
              <a:spcAft>
                <a:spcPts val="0"/>
              </a:spcAft>
            </a:pPr>
            <a:r>
              <a:rPr lang="vi-VN" sz="1300" b="0" i="1" dirty="0">
                <a:solidFill>
                  <a:srgbClr val="5F636B"/>
                </a:solidFill>
                <a:latin typeface="Arial"/>
                <a:cs typeface="Arial"/>
              </a:rPr>
              <a:t>Ví dụ chạy thử với mô hình Hybrid: người dùng mới chọn 3 phim là có gợi ý ngay, không cần huấn luyện lại mô hình.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Bộ dữ liệu MovieLens (ml-latest-small)</a:t>
            </a:r>
          </a:p>
        </p:txBody>
      </p:sp>
      <p:sp>
        <p:nvSpPr>
          <p:cNvPr id="3" name="Rounded Rectangle 2"/>
          <p:cNvSpPr/>
          <p:nvPr/>
        </p:nvSpPr>
        <p:spPr>
          <a:xfrm>
            <a:off x="548640" y="1099917"/>
            <a:ext cx="2588056" cy="1595803"/>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15976"/>
            <a:ext cx="2588056" cy="1402373"/>
          </a:xfrm>
          <a:prstGeom prst="rect">
            <a:avLst/>
          </a:prstGeom>
          <a:noFill/>
        </p:spPr>
        <p:txBody>
          <a:bodyPr wrap="square" lIns="0" tIns="0" rIns="0" bIns="0" anchor="ctr">
            <a:spAutoFit/>
          </a:bodyPr>
          <a:lstStyle/>
          <a:p>
            <a:pPr algn="ctr">
              <a:spcAft>
                <a:spcPts val="200"/>
              </a:spcAft>
            </a:pPr>
            <a:r>
              <a:rPr sz="2900" b="1" i="0">
                <a:solidFill>
                  <a:srgbClr val="003366"/>
                </a:solidFill>
                <a:latin typeface="Arial"/>
              </a:rPr>
              <a:t>610</a:t>
            </a:r>
          </a:p>
          <a:p>
            <a:pPr algn="ctr">
              <a:spcAft>
                <a:spcPts val="0"/>
              </a:spcAft>
            </a:pPr>
            <a:r>
              <a:rPr sz="1500" b="1" i="0">
                <a:solidFill>
                  <a:srgbClr val="1C1C1C"/>
                </a:solidFill>
                <a:latin typeface="Arial"/>
              </a:rPr>
              <a:t>người dùng</a:t>
            </a:r>
          </a:p>
          <a:p>
            <a:pPr algn="ctr">
              <a:spcAft>
                <a:spcPts val="0"/>
              </a:spcAft>
            </a:pPr>
            <a:r>
              <a:rPr sz="1300" b="0" i="0">
                <a:solidFill>
                  <a:srgbClr val="5F636B"/>
                </a:solidFill>
                <a:latin typeface="Arial"/>
              </a:rPr>
              <a:t>mỗi người ≥ 20 rating</a:t>
            </a:r>
          </a:p>
        </p:txBody>
      </p:sp>
      <p:sp>
        <p:nvSpPr>
          <p:cNvPr id="5" name="Rounded Rectangle 4"/>
          <p:cNvSpPr/>
          <p:nvPr/>
        </p:nvSpPr>
        <p:spPr>
          <a:xfrm>
            <a:off x="3383178" y="1099917"/>
            <a:ext cx="2588056" cy="1595803"/>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383178" y="1215976"/>
            <a:ext cx="2588056" cy="1402373"/>
          </a:xfrm>
          <a:prstGeom prst="rect">
            <a:avLst/>
          </a:prstGeom>
          <a:noFill/>
        </p:spPr>
        <p:txBody>
          <a:bodyPr wrap="square" lIns="0" tIns="0" rIns="0" bIns="0" anchor="ctr">
            <a:spAutoFit/>
          </a:bodyPr>
          <a:lstStyle/>
          <a:p>
            <a:pPr algn="ctr">
              <a:spcAft>
                <a:spcPts val="200"/>
              </a:spcAft>
            </a:pPr>
            <a:r>
              <a:rPr sz="2900" b="1" i="0">
                <a:solidFill>
                  <a:srgbClr val="003366"/>
                </a:solidFill>
                <a:latin typeface="Arial"/>
              </a:rPr>
              <a:t>9,742</a:t>
            </a:r>
          </a:p>
          <a:p>
            <a:pPr algn="ctr">
              <a:spcAft>
                <a:spcPts val="0"/>
              </a:spcAft>
            </a:pPr>
            <a:r>
              <a:rPr sz="1500" b="1" i="0">
                <a:solidFill>
                  <a:srgbClr val="1C1C1C"/>
                </a:solidFill>
                <a:latin typeface="Arial"/>
              </a:rPr>
              <a:t>phim</a:t>
            </a:r>
          </a:p>
          <a:p>
            <a:pPr algn="ctr">
              <a:spcAft>
                <a:spcPts val="0"/>
              </a:spcAft>
            </a:pPr>
            <a:r>
              <a:rPr sz="1300" b="0" i="0">
                <a:solidFill>
                  <a:srgbClr val="5F636B"/>
                </a:solidFill>
                <a:latin typeface="Arial"/>
              </a:rPr>
              <a:t>20 thể loại</a:t>
            </a:r>
          </a:p>
        </p:txBody>
      </p:sp>
      <p:sp>
        <p:nvSpPr>
          <p:cNvPr id="7" name="Rounded Rectangle 6"/>
          <p:cNvSpPr/>
          <p:nvPr/>
        </p:nvSpPr>
        <p:spPr>
          <a:xfrm>
            <a:off x="6217716" y="1099917"/>
            <a:ext cx="2588056" cy="1595803"/>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716" y="1215976"/>
            <a:ext cx="2588056" cy="1402373"/>
          </a:xfrm>
          <a:prstGeom prst="rect">
            <a:avLst/>
          </a:prstGeom>
          <a:noFill/>
        </p:spPr>
        <p:txBody>
          <a:bodyPr wrap="square" lIns="0" tIns="0" rIns="0" bIns="0" anchor="ctr">
            <a:spAutoFit/>
          </a:bodyPr>
          <a:lstStyle/>
          <a:p>
            <a:pPr algn="ctr">
              <a:spcAft>
                <a:spcPts val="200"/>
              </a:spcAft>
            </a:pPr>
            <a:r>
              <a:rPr sz="2900" b="1" i="0">
                <a:solidFill>
                  <a:srgbClr val="003366"/>
                </a:solidFill>
                <a:latin typeface="Arial"/>
              </a:rPr>
              <a:t>100,836</a:t>
            </a:r>
          </a:p>
          <a:p>
            <a:pPr algn="ctr">
              <a:spcAft>
                <a:spcPts val="0"/>
              </a:spcAft>
            </a:pPr>
            <a:r>
              <a:rPr sz="1500" b="1" i="0">
                <a:solidFill>
                  <a:srgbClr val="1C1C1C"/>
                </a:solidFill>
                <a:latin typeface="Arial"/>
              </a:rPr>
              <a:t>lượt rating</a:t>
            </a:r>
          </a:p>
          <a:p>
            <a:pPr algn="ctr">
              <a:spcAft>
                <a:spcPts val="0"/>
              </a:spcAft>
            </a:pPr>
            <a:r>
              <a:rPr sz="1300" b="0" i="0">
                <a:solidFill>
                  <a:srgbClr val="5F636B"/>
                </a:solidFill>
                <a:latin typeface="Arial"/>
              </a:rPr>
              <a:t>thang 0.5 → 5★</a:t>
            </a:r>
          </a:p>
        </p:txBody>
      </p:sp>
      <p:sp>
        <p:nvSpPr>
          <p:cNvPr id="9" name="Rounded Rectangle 8"/>
          <p:cNvSpPr/>
          <p:nvPr/>
        </p:nvSpPr>
        <p:spPr>
          <a:xfrm>
            <a:off x="9052255" y="1099917"/>
            <a:ext cx="2588056" cy="1595803"/>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52255" y="1215976"/>
            <a:ext cx="2588056" cy="1402373"/>
          </a:xfrm>
          <a:prstGeom prst="rect">
            <a:avLst/>
          </a:prstGeom>
          <a:noFill/>
        </p:spPr>
        <p:txBody>
          <a:bodyPr wrap="square" lIns="0" tIns="0" rIns="0" bIns="0" anchor="ctr">
            <a:spAutoFit/>
          </a:bodyPr>
          <a:lstStyle/>
          <a:p>
            <a:pPr algn="ctr">
              <a:spcAft>
                <a:spcPts val="200"/>
              </a:spcAft>
            </a:pPr>
            <a:r>
              <a:rPr sz="2400" b="1" i="0">
                <a:solidFill>
                  <a:srgbClr val="003366"/>
                </a:solidFill>
                <a:latin typeface="Arial"/>
              </a:rPr>
              <a:t>1996–2018</a:t>
            </a:r>
          </a:p>
          <a:p>
            <a:pPr algn="ctr">
              <a:spcAft>
                <a:spcPts val="0"/>
              </a:spcAft>
            </a:pPr>
            <a:r>
              <a:rPr sz="1500" b="1" i="0">
                <a:solidFill>
                  <a:srgbClr val="1C1C1C"/>
                </a:solidFill>
                <a:latin typeface="Arial"/>
              </a:rPr>
              <a:t>khoảng thời gian</a:t>
            </a:r>
          </a:p>
          <a:p>
            <a:pPr algn="ctr">
              <a:spcAft>
                <a:spcPts val="0"/>
              </a:spcAft>
            </a:pPr>
            <a:r>
              <a:rPr sz="1300" b="0" i="0">
                <a:solidFill>
                  <a:srgbClr val="5F636B"/>
                </a:solidFill>
                <a:latin typeface="Arial"/>
              </a:rPr>
              <a:t>có timestamp</a:t>
            </a:r>
          </a:p>
        </p:txBody>
      </p:sp>
      <p:graphicFrame>
        <p:nvGraphicFramePr>
          <p:cNvPr id="11" name="Table 10"/>
          <p:cNvGraphicFramePr>
            <a:graphicFrameLocks noGrp="1"/>
          </p:cNvGraphicFramePr>
          <p:nvPr/>
        </p:nvGraphicFramePr>
        <p:xfrm>
          <a:off x="548640" y="2985867"/>
          <a:ext cx="11091671" cy="2417880"/>
        </p:xfrm>
        <a:graphic>
          <a:graphicData uri="http://schemas.openxmlformats.org/drawingml/2006/table">
            <a:tbl>
              <a:tblPr firstRow="1">
                <a:tableStyleId>{5C22544A-7EE6-4342-B048-85BDC9FD1C3A}</a:tableStyleId>
              </a:tblPr>
              <a:tblGrid>
                <a:gridCol w="2464816">
                  <a:extLst>
                    <a:ext uri="{9D8B030D-6E8A-4147-A177-3AD203B41FA5}">
                      <a16:colId xmlns:a16="http://schemas.microsoft.com/office/drawing/2014/main" val="20000"/>
                    </a:ext>
                  </a:extLst>
                </a:gridCol>
                <a:gridCol w="6655003">
                  <a:extLst>
                    <a:ext uri="{9D8B030D-6E8A-4147-A177-3AD203B41FA5}">
                      <a16:colId xmlns:a16="http://schemas.microsoft.com/office/drawing/2014/main" val="20001"/>
                    </a:ext>
                  </a:extLst>
                </a:gridCol>
                <a:gridCol w="1971852">
                  <a:extLst>
                    <a:ext uri="{9D8B030D-6E8A-4147-A177-3AD203B41FA5}">
                      <a16:colId xmlns:a16="http://schemas.microsoft.com/office/drawing/2014/main" val="20002"/>
                    </a:ext>
                  </a:extLst>
                </a:gridCol>
              </a:tblGrid>
              <a:tr h="483576">
                <a:tc>
                  <a:txBody>
                    <a:bodyPr/>
                    <a:lstStyle/>
                    <a:p>
                      <a:pPr algn="l">
                        <a:spcAft>
                          <a:spcPts val="0"/>
                        </a:spcAft>
                      </a:pPr>
                      <a:r>
                        <a:rPr sz="1500" b="1" i="0">
                          <a:solidFill>
                            <a:srgbClr val="FFFFFF"/>
                          </a:solidFill>
                          <a:latin typeface="Arial"/>
                        </a:rPr>
                        <a:t>File</a:t>
                      </a:r>
                    </a:p>
                  </a:txBody>
                  <a:tcPr marL="109728" marR="109728" anchor="ctr">
                    <a:solidFill>
                      <a:srgbClr val="003366"/>
                    </a:solidFill>
                  </a:tcPr>
                </a:tc>
                <a:tc>
                  <a:txBody>
                    <a:bodyPr/>
                    <a:lstStyle/>
                    <a:p>
                      <a:pPr algn="l">
                        <a:spcAft>
                          <a:spcPts val="0"/>
                        </a:spcAft>
                      </a:pPr>
                      <a:r>
                        <a:rPr sz="1500" b="1" i="0">
                          <a:solidFill>
                            <a:srgbClr val="FFFFFF"/>
                          </a:solidFill>
                          <a:latin typeface="Arial"/>
                        </a:rPr>
                        <a:t>Nội dung</a:t>
                      </a:r>
                    </a:p>
                  </a:txBody>
                  <a:tcPr marL="109728" marR="109728" anchor="ctr">
                    <a:solidFill>
                      <a:srgbClr val="003366"/>
                    </a:solidFill>
                  </a:tcPr>
                </a:tc>
                <a:tc>
                  <a:txBody>
                    <a:bodyPr/>
                    <a:lstStyle/>
                    <a:p>
                      <a:pPr algn="r">
                        <a:spcAft>
                          <a:spcPts val="0"/>
                        </a:spcAft>
                      </a:pPr>
                      <a:r>
                        <a:rPr sz="1500" b="1" i="0">
                          <a:solidFill>
                            <a:srgbClr val="FFFFFF"/>
                          </a:solidFill>
                          <a:latin typeface="Arial"/>
                        </a:rPr>
                        <a:t>Số dòng</a:t>
                      </a:r>
                    </a:p>
                  </a:txBody>
                  <a:tcPr marL="109728" marR="109728" anchor="ctr">
                    <a:solidFill>
                      <a:srgbClr val="003366"/>
                    </a:solidFill>
                  </a:tcPr>
                </a:tc>
                <a:extLst>
                  <a:ext uri="{0D108BD9-81ED-4DB2-BD59-A6C34878D82A}">
                    <a16:rowId xmlns:a16="http://schemas.microsoft.com/office/drawing/2014/main" val="10000"/>
                  </a:ext>
                </a:extLst>
              </a:tr>
              <a:tr h="483576">
                <a:tc>
                  <a:txBody>
                    <a:bodyPr/>
                    <a:lstStyle/>
                    <a:p>
                      <a:pPr algn="l">
                        <a:spcAft>
                          <a:spcPts val="0"/>
                        </a:spcAft>
                      </a:pPr>
                      <a:r>
                        <a:rPr sz="1500" b="1" i="0">
                          <a:solidFill>
                            <a:srgbClr val="1C1C1C"/>
                          </a:solidFill>
                          <a:latin typeface="Courier New"/>
                        </a:rPr>
                        <a:t>ratings.csv</a:t>
                      </a:r>
                    </a:p>
                  </a:txBody>
                  <a:tcPr marL="109728" marR="109728" anchor="ctr">
                    <a:solidFill>
                      <a:srgbClr val="FFFFFF"/>
                    </a:solidFill>
                  </a:tcPr>
                </a:tc>
                <a:tc>
                  <a:txBody>
                    <a:bodyPr/>
                    <a:lstStyle/>
                    <a:p>
                      <a:pPr algn="l">
                        <a:spcAft>
                          <a:spcPts val="0"/>
                        </a:spcAft>
                      </a:pPr>
                      <a:r>
                        <a:rPr sz="1500" b="0" i="0">
                          <a:solidFill>
                            <a:srgbClr val="1C1C1C"/>
                          </a:solidFill>
                          <a:latin typeface="Arial"/>
                        </a:rPr>
                        <a:t>userId, movieId, rating, timestamp</a:t>
                      </a:r>
                    </a:p>
                  </a:txBody>
                  <a:tcPr marL="109728" marR="109728" anchor="ctr">
                    <a:solidFill>
                      <a:srgbClr val="FFFFFF"/>
                    </a:solidFill>
                  </a:tcPr>
                </a:tc>
                <a:tc>
                  <a:txBody>
                    <a:bodyPr/>
                    <a:lstStyle/>
                    <a:p>
                      <a:pPr algn="r">
                        <a:spcAft>
                          <a:spcPts val="0"/>
                        </a:spcAft>
                      </a:pPr>
                      <a:r>
                        <a:rPr sz="1500" b="0" i="0">
                          <a:solidFill>
                            <a:srgbClr val="1C1C1C"/>
                          </a:solidFill>
                          <a:latin typeface="Arial"/>
                        </a:rPr>
                        <a:t>100,836</a:t>
                      </a:r>
                    </a:p>
                  </a:txBody>
                  <a:tcPr marL="109728" marR="109728" anchor="ctr">
                    <a:solidFill>
                      <a:srgbClr val="FFFFFF"/>
                    </a:solidFill>
                  </a:tcPr>
                </a:tc>
                <a:extLst>
                  <a:ext uri="{0D108BD9-81ED-4DB2-BD59-A6C34878D82A}">
                    <a16:rowId xmlns:a16="http://schemas.microsoft.com/office/drawing/2014/main" val="10001"/>
                  </a:ext>
                </a:extLst>
              </a:tr>
              <a:tr h="483576">
                <a:tc>
                  <a:txBody>
                    <a:bodyPr/>
                    <a:lstStyle/>
                    <a:p>
                      <a:pPr algn="l">
                        <a:spcAft>
                          <a:spcPts val="0"/>
                        </a:spcAft>
                      </a:pPr>
                      <a:r>
                        <a:rPr sz="1500" b="1" i="0">
                          <a:solidFill>
                            <a:srgbClr val="1C1C1C"/>
                          </a:solidFill>
                          <a:latin typeface="Courier New"/>
                        </a:rPr>
                        <a:t>movies.csv</a:t>
                      </a:r>
                    </a:p>
                  </a:txBody>
                  <a:tcPr marL="109728" marR="109728" anchor="ctr">
                    <a:solidFill>
                      <a:srgbClr val="E8EEF5"/>
                    </a:solidFill>
                  </a:tcPr>
                </a:tc>
                <a:tc>
                  <a:txBody>
                    <a:bodyPr/>
                    <a:lstStyle/>
                    <a:p>
                      <a:pPr algn="l">
                        <a:spcAft>
                          <a:spcPts val="0"/>
                        </a:spcAft>
                      </a:pPr>
                      <a:r>
                        <a:rPr sz="1500" b="0" i="0">
                          <a:solidFill>
                            <a:srgbClr val="1C1C1C"/>
                          </a:solidFill>
                          <a:latin typeface="Arial"/>
                        </a:rPr>
                        <a:t>movieId, title (kèm năm), genres</a:t>
                      </a:r>
                    </a:p>
                  </a:txBody>
                  <a:tcPr marL="109728" marR="109728" anchor="ctr">
                    <a:solidFill>
                      <a:srgbClr val="E8EEF5"/>
                    </a:solidFill>
                  </a:tcPr>
                </a:tc>
                <a:tc>
                  <a:txBody>
                    <a:bodyPr/>
                    <a:lstStyle/>
                    <a:p>
                      <a:pPr algn="r">
                        <a:spcAft>
                          <a:spcPts val="0"/>
                        </a:spcAft>
                      </a:pPr>
                      <a:r>
                        <a:rPr sz="1500" b="0" i="0">
                          <a:solidFill>
                            <a:srgbClr val="1C1C1C"/>
                          </a:solidFill>
                          <a:latin typeface="Arial"/>
                        </a:rPr>
                        <a:t>9,742</a:t>
                      </a:r>
                    </a:p>
                  </a:txBody>
                  <a:tcPr marL="109728" marR="109728" anchor="ctr">
                    <a:solidFill>
                      <a:srgbClr val="E8EEF5"/>
                    </a:solidFill>
                  </a:tcPr>
                </a:tc>
                <a:extLst>
                  <a:ext uri="{0D108BD9-81ED-4DB2-BD59-A6C34878D82A}">
                    <a16:rowId xmlns:a16="http://schemas.microsoft.com/office/drawing/2014/main" val="10002"/>
                  </a:ext>
                </a:extLst>
              </a:tr>
              <a:tr h="483576">
                <a:tc>
                  <a:txBody>
                    <a:bodyPr/>
                    <a:lstStyle/>
                    <a:p>
                      <a:pPr algn="l">
                        <a:spcAft>
                          <a:spcPts val="0"/>
                        </a:spcAft>
                      </a:pPr>
                      <a:r>
                        <a:rPr sz="1500" b="1" i="0">
                          <a:solidFill>
                            <a:srgbClr val="1C1C1C"/>
                          </a:solidFill>
                          <a:latin typeface="Courier New"/>
                        </a:rPr>
                        <a:t>tags.csv</a:t>
                      </a:r>
                    </a:p>
                  </a:txBody>
                  <a:tcPr marL="109728" marR="109728" anchor="ctr">
                    <a:solidFill>
                      <a:srgbClr val="FFFFFF"/>
                    </a:solidFill>
                  </a:tcPr>
                </a:tc>
                <a:tc>
                  <a:txBody>
                    <a:bodyPr/>
                    <a:lstStyle/>
                    <a:p>
                      <a:pPr algn="l">
                        <a:spcAft>
                          <a:spcPts val="0"/>
                        </a:spcAft>
                      </a:pPr>
                      <a:r>
                        <a:rPr sz="1500" b="0" i="0">
                          <a:solidFill>
                            <a:srgbClr val="1C1C1C"/>
                          </a:solidFill>
                          <a:latin typeface="Arial"/>
                        </a:rPr>
                        <a:t>userId, movieId, tag tự do, timestamp</a:t>
                      </a:r>
                    </a:p>
                  </a:txBody>
                  <a:tcPr marL="109728" marR="109728" anchor="ctr">
                    <a:solidFill>
                      <a:srgbClr val="FFFFFF"/>
                    </a:solidFill>
                  </a:tcPr>
                </a:tc>
                <a:tc>
                  <a:txBody>
                    <a:bodyPr/>
                    <a:lstStyle/>
                    <a:p>
                      <a:pPr algn="r">
                        <a:spcAft>
                          <a:spcPts val="0"/>
                        </a:spcAft>
                      </a:pPr>
                      <a:r>
                        <a:rPr sz="1500" b="0" i="0">
                          <a:solidFill>
                            <a:srgbClr val="1C1C1C"/>
                          </a:solidFill>
                          <a:latin typeface="Arial"/>
                        </a:rPr>
                        <a:t>3,683</a:t>
                      </a:r>
                    </a:p>
                  </a:txBody>
                  <a:tcPr marL="109728" marR="109728" anchor="ctr">
                    <a:solidFill>
                      <a:srgbClr val="FFFFFF"/>
                    </a:solidFill>
                  </a:tcPr>
                </a:tc>
                <a:extLst>
                  <a:ext uri="{0D108BD9-81ED-4DB2-BD59-A6C34878D82A}">
                    <a16:rowId xmlns:a16="http://schemas.microsoft.com/office/drawing/2014/main" val="10003"/>
                  </a:ext>
                </a:extLst>
              </a:tr>
              <a:tr h="483576">
                <a:tc>
                  <a:txBody>
                    <a:bodyPr/>
                    <a:lstStyle/>
                    <a:p>
                      <a:pPr algn="l">
                        <a:spcAft>
                          <a:spcPts val="0"/>
                        </a:spcAft>
                      </a:pPr>
                      <a:r>
                        <a:rPr sz="1500" b="1" i="0">
                          <a:solidFill>
                            <a:srgbClr val="1C1C1C"/>
                          </a:solidFill>
                          <a:latin typeface="Courier New"/>
                        </a:rPr>
                        <a:t>links.csv</a:t>
                      </a:r>
                    </a:p>
                  </a:txBody>
                  <a:tcPr marL="109728" marR="109728" anchor="ctr">
                    <a:solidFill>
                      <a:srgbClr val="E8EEF5"/>
                    </a:solidFill>
                  </a:tcPr>
                </a:tc>
                <a:tc>
                  <a:txBody>
                    <a:bodyPr/>
                    <a:lstStyle/>
                    <a:p>
                      <a:pPr algn="l">
                        <a:spcAft>
                          <a:spcPts val="0"/>
                        </a:spcAft>
                      </a:pPr>
                      <a:r>
                        <a:rPr sz="1500" b="0" i="0">
                          <a:solidFill>
                            <a:srgbClr val="1C1C1C"/>
                          </a:solidFill>
                          <a:latin typeface="Arial"/>
                        </a:rPr>
                        <a:t>ánh xạ sang IMDb, TMDB</a:t>
                      </a:r>
                    </a:p>
                  </a:txBody>
                  <a:tcPr marL="109728" marR="109728" anchor="ctr">
                    <a:solidFill>
                      <a:srgbClr val="E8EEF5"/>
                    </a:solidFill>
                  </a:tcPr>
                </a:tc>
                <a:tc>
                  <a:txBody>
                    <a:bodyPr/>
                    <a:lstStyle/>
                    <a:p>
                      <a:pPr algn="r">
                        <a:spcAft>
                          <a:spcPts val="0"/>
                        </a:spcAft>
                      </a:pPr>
                      <a:r>
                        <a:rPr sz="1500" b="0" i="0">
                          <a:solidFill>
                            <a:srgbClr val="1C1C1C"/>
                          </a:solidFill>
                          <a:latin typeface="Arial"/>
                        </a:rPr>
                        <a:t>9,742</a:t>
                      </a:r>
                    </a:p>
                  </a:txBody>
                  <a:tcPr marL="109728" marR="109728" anchor="ctr">
                    <a:solidFill>
                      <a:srgbClr val="E8EEF5"/>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48640" y="5548825"/>
            <a:ext cx="11091672" cy="338503"/>
          </a:xfrm>
          <a:prstGeom prst="rect">
            <a:avLst/>
          </a:prstGeom>
          <a:noFill/>
        </p:spPr>
        <p:txBody>
          <a:bodyPr wrap="square" lIns="0" tIns="0" rIns="0" bIns="0" anchor="t">
            <a:spAutoFit/>
          </a:bodyPr>
          <a:lstStyle/>
          <a:p>
            <a:pPr algn="l">
              <a:spcAft>
                <a:spcPts val="600"/>
              </a:spcAft>
            </a:pPr>
            <a:r>
              <a:rPr sz="1300" b="0" i="1">
                <a:solidFill>
                  <a:srgbClr val="5F636B"/>
                </a:solidFill>
                <a:latin typeface="Arial"/>
              </a:rPr>
              <a:t>Nguồn: GroupLens Research, grouplens.org/datasets/movielens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Dữ liệu có đủ cho bài toán không?</a:t>
            </a:r>
          </a:p>
        </p:txBody>
      </p:sp>
      <p:graphicFrame>
        <p:nvGraphicFramePr>
          <p:cNvPr id="126" name="Bảng đủ dữ liệu"/>
          <p:cNvGraphicFramePr>
            <a:graphicFrameLocks noGrp="1"/>
          </p:cNvGraphicFramePr>
          <p:nvPr/>
        </p:nvGraphicFramePr>
        <p:xfrm>
          <a:off x="548640" y="1005840"/>
          <a:ext cx="11091672" cy="3328416"/>
        </p:xfrm>
        <a:graphic>
          <a:graphicData uri="http://schemas.openxmlformats.org/drawingml/2006/table">
            <a:tbl>
              <a:tblPr firstRow="1"/>
              <a:tblGrid>
                <a:gridCol w="347472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1764792">
                  <a:extLst>
                    <a:ext uri="{9D8B030D-6E8A-4147-A177-3AD203B41FA5}">
                      <a16:colId xmlns:a16="http://schemas.microsoft.com/office/drawing/2014/main" val="20002"/>
                    </a:ext>
                  </a:extLst>
                </a:gridCol>
              </a:tblGrid>
              <a:tr h="384048">
                <a:tc>
                  <a:txBody>
                    <a:bodyPr/>
                    <a:lstStyle/>
                    <a:p>
                      <a:pPr algn="l"/>
                      <a:r>
                        <a:rPr lang="vi-VN" sz="1400" b="1" i="0" dirty="0">
                          <a:solidFill>
                            <a:srgbClr val="FFFFFF"/>
                          </a:solidFill>
                          <a:latin typeface="Arial"/>
                          <a:cs typeface="Arial"/>
                        </a:rPr>
                        <a:t>Bài toán cần</a:t>
                      </a:r>
                      <a:endParaRPr lang="vi-VN" sz="1400" dirty="0"/>
                    </a:p>
                  </a:txBody>
                  <a:tcPr anchor="ctr">
                    <a:lnL w="0">
                      <a:noFill/>
                    </a:lnL>
                    <a:lnR w="0">
                      <a:noFill/>
                    </a:lnR>
                    <a:lnT w="0">
                      <a:noFill/>
                    </a:lnT>
                    <a:lnB w="0">
                      <a:noFill/>
                    </a:lnB>
                    <a:solidFill>
                      <a:srgbClr val="003366"/>
                    </a:solidFill>
                  </a:tcPr>
                </a:tc>
                <a:tc>
                  <a:txBody>
                    <a:bodyPr/>
                    <a:lstStyle/>
                    <a:p>
                      <a:pPr algn="l"/>
                      <a:r>
                        <a:rPr lang="vi-VN" sz="1400" b="1" i="0" dirty="0">
                          <a:solidFill>
                            <a:srgbClr val="FFFFFF"/>
                          </a:solidFill>
                          <a:latin typeface="Arial"/>
                          <a:cs typeface="Arial"/>
                        </a:rPr>
                        <a:t>Có trong dữ liệu</a:t>
                      </a:r>
                      <a:endParaRPr lang="vi-VN" sz="1400" dirty="0"/>
                    </a:p>
                  </a:txBody>
                  <a:tcPr anchor="ctr">
                    <a:lnL w="0">
                      <a:noFill/>
                    </a:lnL>
                    <a:lnR w="0">
                      <a:noFill/>
                    </a:lnR>
                    <a:lnT w="0">
                      <a:noFill/>
                    </a:lnT>
                    <a:lnB w="0">
                      <a:noFill/>
                    </a:lnB>
                    <a:solidFill>
                      <a:srgbClr val="003366"/>
                    </a:solidFill>
                  </a:tcPr>
                </a:tc>
                <a:tc>
                  <a:txBody>
                    <a:bodyPr/>
                    <a:lstStyle/>
                    <a:p>
                      <a:pPr algn="l"/>
                      <a:r>
                        <a:rPr lang="vi-VN" sz="1400" b="1" i="0" dirty="0">
                          <a:solidFill>
                            <a:srgbClr val="FFFFFF"/>
                          </a:solidFill>
                          <a:latin typeface="Arial"/>
                          <a:cs typeface="Arial"/>
                        </a:rPr>
                        <a:t>Đánh giá</a:t>
                      </a:r>
                      <a:endParaRPr lang="vi-VN" sz="1400" dirty="0"/>
                    </a:p>
                  </a:txBody>
                  <a:tcPr anchor="ctr">
                    <a:lnL w="0">
                      <a:noFill/>
                    </a:lnL>
                    <a:lnR w="0">
                      <a:noFill/>
                    </a:lnR>
                    <a:lnT w="0">
                      <a:noFill/>
                    </a:lnT>
                    <a:lnB w="0">
                      <a:noFill/>
                    </a:lnB>
                    <a:solidFill>
                      <a:srgbClr val="003366"/>
                    </a:solidFill>
                  </a:tcPr>
                </a:tc>
                <a:extLst>
                  <a:ext uri="{0D108BD9-81ED-4DB2-BD59-A6C34878D82A}">
                    <a16:rowId xmlns:a16="http://schemas.microsoft.com/office/drawing/2014/main" val="10000"/>
                  </a:ext>
                </a:extLst>
              </a:tr>
              <a:tr h="420624">
                <a:tc>
                  <a:txBody>
                    <a:bodyPr/>
                    <a:lstStyle/>
                    <a:p>
                      <a:pPr algn="l"/>
                      <a:r>
                        <a:rPr lang="vi-VN" sz="1400" b="1" i="0" dirty="0">
                          <a:solidFill>
                            <a:srgbClr val="1C1C1C"/>
                          </a:solidFill>
                          <a:latin typeface="Arial"/>
                          <a:cs typeface="Arial"/>
                        </a:rPr>
                        <a:t>Lịch sử chấm điểm (đầu vào)</a:t>
                      </a:r>
                      <a:endParaRPr lang="vi-VN" sz="1400" dirty="0"/>
                    </a:p>
                  </a:txBody>
                  <a:tcPr anchor="ctr">
                    <a:lnL w="0">
                      <a:noFill/>
                    </a:lnL>
                    <a:lnR w="0">
                      <a:noFill/>
                    </a:lnR>
                    <a:lnT w="0">
                      <a:noFill/>
                    </a:lnT>
                    <a:lnB w="9525">
                      <a:solidFill>
                        <a:srgbClr val="C6CFDB"/>
                      </a:solidFill>
                    </a:lnB>
                    <a:noFill/>
                  </a:tcPr>
                </a:tc>
                <a:tc>
                  <a:txBody>
                    <a:bodyPr/>
                    <a:lstStyle/>
                    <a:p>
                      <a:pPr algn="l"/>
                      <a:r>
                        <a:rPr lang="vi-VN" sz="1400" b="0" i="0" dirty="0">
                          <a:solidFill>
                            <a:srgbClr val="1C1C1C"/>
                          </a:solidFill>
                          <a:latin typeface="Arial"/>
                          <a:cs typeface="Arial"/>
                        </a:rPr>
                        <a:t>ratings.csv: 100,836 lượt, 610 người, mỗi người ≥ 20 lượt</a:t>
                      </a:r>
                      <a:endParaRPr lang="vi-VN" sz="1400" dirty="0"/>
                    </a:p>
                  </a:txBody>
                  <a:tcPr anchor="ctr">
                    <a:lnL w="0">
                      <a:noFill/>
                    </a:lnL>
                    <a:lnR w="0">
                      <a:noFill/>
                    </a:lnR>
                    <a:lnT w="0">
                      <a:noFill/>
                    </a:lnT>
                    <a:lnB w="9525">
                      <a:solidFill>
                        <a:srgbClr val="C6CFDB"/>
                      </a:solidFill>
                    </a:lnB>
                    <a:noFill/>
                  </a:tcPr>
                </a:tc>
                <a:tc>
                  <a:txBody>
                    <a:bodyPr/>
                    <a:lstStyle/>
                    <a:p>
                      <a:pPr algn="l"/>
                      <a:r>
                        <a:rPr lang="vi-VN" sz="1400" b="1" i="0" dirty="0">
                          <a:solidFill>
                            <a:srgbClr val="003366"/>
                          </a:solidFill>
                          <a:latin typeface="Arial"/>
                          <a:cs typeface="Arial"/>
                        </a:rPr>
                        <a:t>Đủ</a:t>
                      </a:r>
                      <a:endParaRPr lang="vi-VN" sz="1400" dirty="0"/>
                    </a:p>
                  </a:txBody>
                  <a:tcPr anchor="ctr">
                    <a:lnL w="0">
                      <a:noFill/>
                    </a:lnL>
                    <a:lnR w="0">
                      <a:noFill/>
                    </a:lnR>
                    <a:lnT w="0">
                      <a:noFill/>
                    </a:lnT>
                    <a:lnB w="9525">
                      <a:solidFill>
                        <a:srgbClr val="C6CFDB"/>
                      </a:solidFill>
                    </a:lnB>
                    <a:noFill/>
                  </a:tcPr>
                </a:tc>
                <a:extLst>
                  <a:ext uri="{0D108BD9-81ED-4DB2-BD59-A6C34878D82A}">
                    <a16:rowId xmlns:a16="http://schemas.microsoft.com/office/drawing/2014/main" val="10001"/>
                  </a:ext>
                </a:extLst>
              </a:tr>
              <a:tr h="420624">
                <a:tc>
                  <a:txBody>
                    <a:bodyPr/>
                    <a:lstStyle/>
                    <a:p>
                      <a:pPr algn="l"/>
                      <a:r>
                        <a:rPr lang="vi-VN" sz="1400" b="1" i="0" dirty="0">
                          <a:solidFill>
                            <a:srgbClr val="1C1C1C"/>
                          </a:solidFill>
                          <a:latin typeface="Arial"/>
                          <a:cs typeface="Arial"/>
                        </a:rPr>
                        <a:t>Nhãn để dự đoán điểm (đầu ra)</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0" i="0" dirty="0">
                          <a:solidFill>
                            <a:srgbClr val="1C1C1C"/>
                          </a:solidFill>
                          <a:latin typeface="Arial"/>
                          <a:cs typeface="Arial"/>
                        </a:rPr>
                        <a:t>Rating tường minh, thang 0.5–5★</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1" i="0" dirty="0">
                          <a:solidFill>
                            <a:srgbClr val="003366"/>
                          </a:solidFill>
                          <a:latin typeface="Arial"/>
                          <a:cs typeface="Arial"/>
                        </a:rPr>
                        <a:t>Đủ</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extLst>
                  <a:ext uri="{0D108BD9-81ED-4DB2-BD59-A6C34878D82A}">
                    <a16:rowId xmlns:a16="http://schemas.microsoft.com/office/drawing/2014/main" val="10002"/>
                  </a:ext>
                </a:extLst>
              </a:tr>
              <a:tr h="420624">
                <a:tc>
                  <a:txBody>
                    <a:bodyPr/>
                    <a:lstStyle/>
                    <a:p>
                      <a:pPr algn="l"/>
                      <a:r>
                        <a:rPr lang="vi-VN" sz="1400" b="1" i="0" dirty="0">
                          <a:solidFill>
                            <a:srgbClr val="1C1C1C"/>
                          </a:solidFill>
                          <a:latin typeface="Arial"/>
                          <a:cs typeface="Arial"/>
                        </a:rPr>
                        <a:t>Thể loại, năm của phim</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0" i="0" dirty="0">
                          <a:solidFill>
                            <a:srgbClr val="1C1C1C"/>
                          </a:solidFill>
                          <a:latin typeface="Arial"/>
                          <a:cs typeface="Arial"/>
                        </a:rPr>
                        <a:t>movies.csv: 99.7% phim có thể loại, 99.9% có năm</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1" i="0" dirty="0">
                          <a:solidFill>
                            <a:srgbClr val="003366"/>
                          </a:solidFill>
                          <a:latin typeface="Arial"/>
                          <a:cs typeface="Arial"/>
                        </a:rPr>
                        <a:t>Đủ</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extLst>
                  <a:ext uri="{0D108BD9-81ED-4DB2-BD59-A6C34878D82A}">
                    <a16:rowId xmlns:a16="http://schemas.microsoft.com/office/drawing/2014/main" val="10003"/>
                  </a:ext>
                </a:extLst>
              </a:tr>
              <a:tr h="420624">
                <a:tc>
                  <a:txBody>
                    <a:bodyPr/>
                    <a:lstStyle/>
                    <a:p>
                      <a:pPr algn="l"/>
                      <a:r>
                        <a:rPr lang="vi-VN" sz="1400" b="1" i="0" dirty="0">
                          <a:solidFill>
                            <a:srgbClr val="1C1C1C"/>
                          </a:solidFill>
                          <a:latin typeface="Arial"/>
                          <a:cs typeface="Arial"/>
                        </a:rPr>
                        <a:t>Đánh giá theo thời gian</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0" i="0" dirty="0">
                          <a:solidFill>
                            <a:srgbClr val="1C1C1C"/>
                          </a:solidFill>
                          <a:latin typeface="Arial"/>
                          <a:cs typeface="Arial"/>
                        </a:rPr>
                        <a:t>Mỗi lượt rating có timestamp → chia train/test theo thời gian</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1" i="0" dirty="0">
                          <a:solidFill>
                            <a:srgbClr val="003366"/>
                          </a:solidFill>
                          <a:latin typeface="Arial"/>
                          <a:cs typeface="Arial"/>
                        </a:rPr>
                        <a:t>Đủ</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extLst>
                  <a:ext uri="{0D108BD9-81ED-4DB2-BD59-A6C34878D82A}">
                    <a16:rowId xmlns:a16="http://schemas.microsoft.com/office/drawing/2014/main" val="10004"/>
                  </a:ext>
                </a:extLst>
              </a:tr>
              <a:tr h="420624">
                <a:tc>
                  <a:txBody>
                    <a:bodyPr/>
                    <a:lstStyle/>
                    <a:p>
                      <a:pPr algn="l"/>
                      <a:r>
                        <a:rPr lang="vi-VN" sz="1400" b="1" i="0" dirty="0">
                          <a:solidFill>
                            <a:srgbClr val="1C1C1C"/>
                          </a:solidFill>
                          <a:latin typeface="Arial"/>
                          <a:cs typeface="Arial"/>
                        </a:rPr>
                        <a:t>Tag mô tả phim</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0" i="0" dirty="0">
                          <a:solidFill>
                            <a:srgbClr val="1C1C1C"/>
                          </a:solidFill>
                          <a:latin typeface="Arial"/>
                          <a:cs typeface="Arial"/>
                        </a:rPr>
                        <a:t>tags.csv: chỉ 16% phim có tag</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1" i="0" dirty="0">
                          <a:solidFill>
                            <a:srgbClr val="5F636B"/>
                          </a:solidFill>
                          <a:latin typeface="Arial"/>
                          <a:cs typeface="Arial"/>
                        </a:rPr>
                        <a:t>Hạn chế</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extLst>
                  <a:ext uri="{0D108BD9-81ED-4DB2-BD59-A6C34878D82A}">
                    <a16:rowId xmlns:a16="http://schemas.microsoft.com/office/drawing/2014/main" val="10005"/>
                  </a:ext>
                </a:extLst>
              </a:tr>
              <a:tr h="420624">
                <a:tc>
                  <a:txBody>
                    <a:bodyPr/>
                    <a:lstStyle/>
                    <a:p>
                      <a:pPr algn="l"/>
                      <a:r>
                        <a:rPr lang="vi-VN" sz="1400" b="1" i="0" dirty="0">
                          <a:solidFill>
                            <a:srgbClr val="1C1C1C"/>
                          </a:solidFill>
                          <a:latin typeface="Arial"/>
                          <a:cs typeface="Arial"/>
                        </a:rPr>
                        <a:t>Tín hiệu cho phim ít người xem</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0" i="0" dirty="0">
                          <a:solidFill>
                            <a:srgbClr val="1C1C1C"/>
                          </a:solidFill>
                          <a:latin typeface="Arial"/>
                          <a:cs typeface="Arial"/>
                        </a:rPr>
                        <a:t>62% phim có dưới 5 lượt rating</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1" i="0" dirty="0">
                          <a:solidFill>
                            <a:srgbClr val="5F636B"/>
                          </a:solidFill>
                          <a:latin typeface="Arial"/>
                          <a:cs typeface="Arial"/>
                        </a:rPr>
                        <a:t>Hạn chế</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extLst>
                  <a:ext uri="{0D108BD9-81ED-4DB2-BD59-A6C34878D82A}">
                    <a16:rowId xmlns:a16="http://schemas.microsoft.com/office/drawing/2014/main" val="10006"/>
                  </a:ext>
                </a:extLst>
              </a:tr>
              <a:tr h="420624">
                <a:tc>
                  <a:txBody>
                    <a:bodyPr/>
                    <a:lstStyle/>
                    <a:p>
                      <a:pPr algn="l"/>
                      <a:r>
                        <a:rPr lang="vi-VN" sz="1400" b="1" i="0" dirty="0">
                          <a:solidFill>
                            <a:srgbClr val="1C1C1C"/>
                          </a:solidFill>
                          <a:latin typeface="Arial"/>
                          <a:cs typeface="Arial"/>
                        </a:rPr>
                        <a:t>Mô tả, diễn viên; hồ sơ người dùng</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0" i="0" dirty="0">
                          <a:solidFill>
                            <a:srgbClr val="1C1C1C"/>
                          </a:solidFill>
                          <a:latin typeface="Arial"/>
                          <a:cs typeface="Arial"/>
                        </a:rPr>
                        <a:t>Không có (links.csv cho phép lấy thêm từ IMDb/TMDB)</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tc>
                  <a:txBody>
                    <a:bodyPr/>
                    <a:lstStyle/>
                    <a:p>
                      <a:pPr algn="l"/>
                      <a:r>
                        <a:rPr lang="vi-VN" sz="1400" b="1" i="0" dirty="0">
                          <a:solidFill>
                            <a:srgbClr val="5F636B"/>
                          </a:solidFill>
                          <a:latin typeface="Arial"/>
                          <a:cs typeface="Arial"/>
                        </a:rPr>
                        <a:t>Ngoài phạm vi</a:t>
                      </a:r>
                      <a:endParaRPr lang="vi-VN" sz="1400" dirty="0"/>
                    </a:p>
                  </a:txBody>
                  <a:tcPr anchor="ctr">
                    <a:lnL w="0">
                      <a:noFill/>
                    </a:lnL>
                    <a:lnR w="0">
                      <a:noFill/>
                    </a:lnR>
                    <a:lnT w="9525" cap="flat" cmpd="sng" algn="ctr">
                      <a:solidFill>
                        <a:srgbClr val="C6CFDB"/>
                      </a:solidFill>
                      <a:prstDash val="solid"/>
                      <a:round/>
                      <a:headEnd type="none" w="med" len="med"/>
                      <a:tailEnd type="none" w="med" len="med"/>
                    </a:lnT>
                    <a:lnB w="9525">
                      <a:solidFill>
                        <a:srgbClr val="C6CFDB"/>
                      </a:solidFill>
                    </a:lnB>
                    <a:noFill/>
                  </a:tcPr>
                </a:tc>
                <a:extLst>
                  <a:ext uri="{0D108BD9-81ED-4DB2-BD59-A6C34878D82A}">
                    <a16:rowId xmlns:a16="http://schemas.microsoft.com/office/drawing/2014/main" val="10007"/>
                  </a:ext>
                </a:extLst>
              </a:tr>
            </a:tbl>
          </a:graphicData>
        </a:graphic>
      </p:graphicFrame>
      <p:sp>
        <p:nvSpPr>
          <p:cNvPr id="127" name="Shape 127"/>
          <p:cNvSpPr/>
          <p:nvPr/>
        </p:nvSpPr>
        <p:spPr>
          <a:xfrm>
            <a:off x="548640" y="4562856"/>
            <a:ext cx="11091672" cy="868680"/>
          </a:xfrm>
          <a:prstGeom prst="roundRect">
            <a:avLst>
              <a:gd name="adj" fmla="val 8000"/>
            </a:avLst>
          </a:prstGeom>
          <a:solidFill>
            <a:srgbClr val="E8EEF5"/>
          </a:solidFill>
          <a:ln>
            <a:noFill/>
          </a:ln>
        </p:spPr>
        <p:txBody>
          <a:bodyPr lIns="228600" tIns="0" rIns="228600" bIns="0" rtlCol="0" anchor="ctr">
            <a:noAutofit/>
          </a:bodyPr>
          <a:lstStyle/>
          <a:p>
            <a:pPr algn="l">
              <a:spcAft>
                <a:spcPts val="0"/>
              </a:spcAft>
            </a:pPr>
            <a:r>
              <a:rPr lang="vi-VN" sz="1500" b="1" i="0" dirty="0">
                <a:solidFill>
                  <a:srgbClr val="003366"/>
                </a:solidFill>
                <a:latin typeface="Arial"/>
                <a:cs typeface="Arial"/>
              </a:rPr>
              <a:t>Kết luận: </a:t>
            </a:r>
            <a:r>
              <a:rPr lang="vi-VN" sz="1500" b="0" i="0" dirty="0">
                <a:solidFill>
                  <a:srgbClr val="1C1C1C"/>
                </a:solidFill>
                <a:latin typeface="Arial"/>
                <a:cs typeface="Arial"/>
              </a:rPr>
              <a:t>dữ liệu đủ cho cả hai mục tiêu (gợi ý top-N và dự đoán điểm). Điểm yếu là thông tin phim chỉ có thể loại, tag, năm và nhiều phim ít rating, nên cần thêm content-based, hybrid và đo độ phủ.</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Đặc điểm dữ liệu</a:t>
            </a:r>
          </a:p>
        </p:txBody>
      </p:sp>
      <p:graphicFrame>
        <p:nvGraphicFramePr>
          <p:cNvPr id="3" name="Chart 2"/>
          <p:cNvGraphicFramePr>
            <a:graphicFrameLocks noGrp="1"/>
          </p:cNvGraphicFramePr>
          <p:nvPr/>
        </p:nvGraphicFramePr>
        <p:xfrm>
          <a:off x="425399" y="1051560"/>
          <a:ext cx="6901484" cy="4787411"/>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548640" y="5790613"/>
            <a:ext cx="6655003" cy="290146"/>
          </a:xfrm>
          <a:prstGeom prst="rect">
            <a:avLst/>
          </a:prstGeom>
          <a:noFill/>
        </p:spPr>
        <p:txBody>
          <a:bodyPr wrap="square" lIns="0" tIns="0" rIns="0" bIns="0" anchor="t">
            <a:spAutoFit/>
          </a:bodyPr>
          <a:lstStyle/>
          <a:p>
            <a:pPr algn="ctr">
              <a:spcAft>
                <a:spcPts val="600"/>
              </a:spcAft>
            </a:pPr>
            <a:r>
              <a:rPr sz="1200" b="0" i="1">
                <a:solidFill>
                  <a:srgbClr val="5F636B"/>
                </a:solidFill>
                <a:latin typeface="Arial"/>
              </a:rPr>
              <a:t>Trục ngang: % phim, xếp theo số lượt rating giảm dần</a:t>
            </a:r>
          </a:p>
        </p:txBody>
      </p:sp>
      <p:sp>
        <p:nvSpPr>
          <p:cNvPr id="5" name="Rounded Rectangle 4"/>
          <p:cNvSpPr/>
          <p:nvPr/>
        </p:nvSpPr>
        <p:spPr>
          <a:xfrm>
            <a:off x="7696606" y="1196633"/>
            <a:ext cx="3943705" cy="101551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81467" y="1196633"/>
            <a:ext cx="1602130" cy="1015511"/>
          </a:xfrm>
          <a:prstGeom prst="rect">
            <a:avLst/>
          </a:prstGeom>
          <a:noFill/>
        </p:spPr>
        <p:txBody>
          <a:bodyPr wrap="square" lIns="0" tIns="0" rIns="0" bIns="0" anchor="ctr">
            <a:spAutoFit/>
          </a:bodyPr>
          <a:lstStyle/>
          <a:p>
            <a:pPr algn="l">
              <a:spcAft>
                <a:spcPts val="600"/>
              </a:spcAft>
            </a:pPr>
            <a:r>
              <a:rPr sz="2400" b="1" i="0">
                <a:solidFill>
                  <a:srgbClr val="003366"/>
                </a:solidFill>
                <a:latin typeface="Arial"/>
              </a:rPr>
              <a:t>98.3%</a:t>
            </a:r>
          </a:p>
        </p:txBody>
      </p:sp>
      <p:sp>
        <p:nvSpPr>
          <p:cNvPr id="7" name="TextBox 6"/>
          <p:cNvSpPr txBox="1"/>
          <p:nvPr/>
        </p:nvSpPr>
        <p:spPr>
          <a:xfrm>
            <a:off x="9483598" y="1196633"/>
            <a:ext cx="2033473" cy="1015511"/>
          </a:xfrm>
          <a:prstGeom prst="rect">
            <a:avLst/>
          </a:prstGeom>
          <a:noFill/>
        </p:spPr>
        <p:txBody>
          <a:bodyPr wrap="square" lIns="0" tIns="0" rIns="0" bIns="0" anchor="ctr">
            <a:spAutoFit/>
          </a:bodyPr>
          <a:lstStyle/>
          <a:p>
            <a:pPr algn="l">
              <a:spcAft>
                <a:spcPts val="600"/>
              </a:spcAft>
            </a:pPr>
            <a:r>
              <a:rPr sz="1400" b="0" i="0">
                <a:solidFill>
                  <a:srgbClr val="1C1C1C"/>
                </a:solidFill>
                <a:latin typeface="Arial"/>
              </a:rPr>
              <a:t>ô trống trong ma trận user × phim</a:t>
            </a:r>
          </a:p>
        </p:txBody>
      </p:sp>
      <p:sp>
        <p:nvSpPr>
          <p:cNvPr id="8" name="Rounded Rectangle 7"/>
          <p:cNvSpPr/>
          <p:nvPr/>
        </p:nvSpPr>
        <p:spPr>
          <a:xfrm>
            <a:off x="7696606" y="2357217"/>
            <a:ext cx="3943705" cy="101551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81467" y="2357217"/>
            <a:ext cx="1602130" cy="1015511"/>
          </a:xfrm>
          <a:prstGeom prst="rect">
            <a:avLst/>
          </a:prstGeom>
          <a:noFill/>
        </p:spPr>
        <p:txBody>
          <a:bodyPr wrap="square" lIns="0" tIns="0" rIns="0" bIns="0" anchor="ctr">
            <a:spAutoFit/>
          </a:bodyPr>
          <a:lstStyle/>
          <a:p>
            <a:pPr algn="l">
              <a:spcAft>
                <a:spcPts val="600"/>
              </a:spcAft>
            </a:pPr>
            <a:r>
              <a:rPr sz="2400" b="1" i="0">
                <a:solidFill>
                  <a:srgbClr val="003366"/>
                </a:solidFill>
                <a:latin typeface="Arial"/>
              </a:rPr>
              <a:t>60%</a:t>
            </a:r>
          </a:p>
        </p:txBody>
      </p:sp>
      <p:sp>
        <p:nvSpPr>
          <p:cNvPr id="10" name="TextBox 9"/>
          <p:cNvSpPr txBox="1"/>
          <p:nvPr/>
        </p:nvSpPr>
        <p:spPr>
          <a:xfrm>
            <a:off x="9483598" y="2357217"/>
            <a:ext cx="2033473" cy="1015511"/>
          </a:xfrm>
          <a:prstGeom prst="rect">
            <a:avLst/>
          </a:prstGeom>
          <a:noFill/>
        </p:spPr>
        <p:txBody>
          <a:bodyPr wrap="square" lIns="0" tIns="0" rIns="0" bIns="0" anchor="ctr">
            <a:spAutoFit/>
          </a:bodyPr>
          <a:lstStyle/>
          <a:p>
            <a:pPr algn="l">
              <a:spcAft>
                <a:spcPts val="600"/>
              </a:spcAft>
            </a:pPr>
            <a:r>
              <a:rPr sz="1400" b="0" i="0">
                <a:solidFill>
                  <a:srgbClr val="1C1C1C"/>
                </a:solidFill>
                <a:latin typeface="Arial"/>
              </a:rPr>
              <a:t>lượt rating dồn vào 10% phim</a:t>
            </a:r>
          </a:p>
        </p:txBody>
      </p:sp>
      <p:sp>
        <p:nvSpPr>
          <p:cNvPr id="11" name="Rounded Rectangle 10"/>
          <p:cNvSpPr/>
          <p:nvPr/>
        </p:nvSpPr>
        <p:spPr>
          <a:xfrm>
            <a:off x="7696606" y="3517802"/>
            <a:ext cx="3943705" cy="101551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81467" y="3517802"/>
            <a:ext cx="1602130" cy="1015511"/>
          </a:xfrm>
          <a:prstGeom prst="rect">
            <a:avLst/>
          </a:prstGeom>
          <a:noFill/>
        </p:spPr>
        <p:txBody>
          <a:bodyPr wrap="square" lIns="0" tIns="0" rIns="0" bIns="0" anchor="ctr">
            <a:spAutoFit/>
          </a:bodyPr>
          <a:lstStyle/>
          <a:p>
            <a:pPr algn="l">
              <a:spcAft>
                <a:spcPts val="600"/>
              </a:spcAft>
            </a:pPr>
            <a:r>
              <a:rPr sz="2400" b="1" i="0">
                <a:solidFill>
                  <a:srgbClr val="003366"/>
                </a:solidFill>
                <a:latin typeface="Arial"/>
              </a:rPr>
              <a:t>35%</a:t>
            </a:r>
          </a:p>
        </p:txBody>
      </p:sp>
      <p:sp>
        <p:nvSpPr>
          <p:cNvPr id="13" name="TextBox 12"/>
          <p:cNvSpPr txBox="1"/>
          <p:nvPr/>
        </p:nvSpPr>
        <p:spPr>
          <a:xfrm>
            <a:off x="9483598" y="3517802"/>
            <a:ext cx="2033473" cy="1015511"/>
          </a:xfrm>
          <a:prstGeom prst="rect">
            <a:avLst/>
          </a:prstGeom>
          <a:noFill/>
        </p:spPr>
        <p:txBody>
          <a:bodyPr wrap="square" lIns="0" tIns="0" rIns="0" bIns="0" anchor="ctr">
            <a:spAutoFit/>
          </a:bodyPr>
          <a:lstStyle/>
          <a:p>
            <a:pPr algn="l">
              <a:spcAft>
                <a:spcPts val="600"/>
              </a:spcAft>
            </a:pPr>
            <a:r>
              <a:rPr sz="1400" b="0" i="0">
                <a:solidFill>
                  <a:srgbClr val="1C1C1C"/>
                </a:solidFill>
                <a:latin typeface="Arial"/>
              </a:rPr>
              <a:t>phim chỉ có đúng 1 lượt rating</a:t>
            </a:r>
          </a:p>
        </p:txBody>
      </p:sp>
      <p:sp>
        <p:nvSpPr>
          <p:cNvPr id="14" name="Rounded Rectangle 13"/>
          <p:cNvSpPr/>
          <p:nvPr/>
        </p:nvSpPr>
        <p:spPr>
          <a:xfrm>
            <a:off x="7696606" y="4678386"/>
            <a:ext cx="3943705" cy="101551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81467" y="4678386"/>
            <a:ext cx="1602130" cy="1015511"/>
          </a:xfrm>
          <a:prstGeom prst="rect">
            <a:avLst/>
          </a:prstGeom>
          <a:noFill/>
        </p:spPr>
        <p:txBody>
          <a:bodyPr wrap="square" lIns="0" tIns="0" rIns="0" bIns="0" anchor="ctr">
            <a:spAutoFit/>
          </a:bodyPr>
          <a:lstStyle/>
          <a:p>
            <a:pPr algn="l">
              <a:spcAft>
                <a:spcPts val="600"/>
              </a:spcAft>
            </a:pPr>
            <a:r>
              <a:rPr sz="2400" b="1" i="0">
                <a:solidFill>
                  <a:srgbClr val="003366"/>
                </a:solidFill>
                <a:latin typeface="Arial"/>
              </a:rPr>
              <a:t>3.50★</a:t>
            </a:r>
          </a:p>
        </p:txBody>
      </p:sp>
      <p:sp>
        <p:nvSpPr>
          <p:cNvPr id="16" name="TextBox 15"/>
          <p:cNvSpPr txBox="1"/>
          <p:nvPr/>
        </p:nvSpPr>
        <p:spPr>
          <a:xfrm>
            <a:off x="9483598" y="4678386"/>
            <a:ext cx="2033473" cy="1015511"/>
          </a:xfrm>
          <a:prstGeom prst="rect">
            <a:avLst/>
          </a:prstGeom>
          <a:noFill/>
        </p:spPr>
        <p:txBody>
          <a:bodyPr wrap="square" lIns="0" tIns="0" rIns="0" bIns="0" anchor="ctr">
            <a:spAutoFit/>
          </a:bodyPr>
          <a:lstStyle/>
          <a:p>
            <a:pPr algn="l">
              <a:spcAft>
                <a:spcPts val="600"/>
              </a:spcAft>
            </a:pPr>
            <a:r>
              <a:rPr sz="1400" b="0" i="0">
                <a:solidFill>
                  <a:srgbClr val="1C1C1C"/>
                </a:solidFill>
                <a:latin typeface="Arial"/>
              </a:rPr>
              <a:t>điểm TB; mỗi người, mỗi phim lệch riêng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Từ đặc điểm dữ liệu tới thiết kế</a:t>
            </a:r>
          </a:p>
        </p:txBody>
      </p:sp>
      <p:sp>
        <p:nvSpPr>
          <p:cNvPr id="3" name="TextBox 2"/>
          <p:cNvSpPr txBox="1"/>
          <p:nvPr/>
        </p:nvSpPr>
        <p:spPr>
          <a:xfrm>
            <a:off x="548640" y="1051560"/>
            <a:ext cx="4806391" cy="386861"/>
          </a:xfrm>
          <a:prstGeom prst="rect">
            <a:avLst/>
          </a:prstGeom>
          <a:noFill/>
        </p:spPr>
        <p:txBody>
          <a:bodyPr wrap="square" lIns="0" tIns="0" rIns="0" bIns="0" anchor="t">
            <a:spAutoFit/>
          </a:bodyPr>
          <a:lstStyle/>
          <a:p>
            <a:pPr algn="l">
              <a:spcAft>
                <a:spcPts val="600"/>
              </a:spcAft>
            </a:pPr>
            <a:r>
              <a:rPr sz="1500" b="1" i="0">
                <a:solidFill>
                  <a:srgbClr val="003366"/>
                </a:solidFill>
                <a:latin typeface="Arial"/>
              </a:rPr>
              <a:t>ĐẶC ĐIỂM DỮ LIỆU</a:t>
            </a:r>
          </a:p>
        </p:txBody>
      </p:sp>
      <p:sp>
        <p:nvSpPr>
          <p:cNvPr id="4" name="TextBox 3"/>
          <p:cNvSpPr txBox="1"/>
          <p:nvPr/>
        </p:nvSpPr>
        <p:spPr>
          <a:xfrm>
            <a:off x="6217716" y="1051560"/>
            <a:ext cx="5422595" cy="386861"/>
          </a:xfrm>
          <a:prstGeom prst="rect">
            <a:avLst/>
          </a:prstGeom>
          <a:noFill/>
        </p:spPr>
        <p:txBody>
          <a:bodyPr wrap="square" lIns="0" tIns="0" rIns="0" bIns="0" anchor="t">
            <a:spAutoFit/>
          </a:bodyPr>
          <a:lstStyle/>
          <a:p>
            <a:pPr algn="l">
              <a:spcAft>
                <a:spcPts val="600"/>
              </a:spcAft>
            </a:pPr>
            <a:r>
              <a:rPr sz="1500" b="1" i="0">
                <a:solidFill>
                  <a:srgbClr val="003366"/>
                </a:solidFill>
                <a:latin typeface="Arial"/>
              </a:rPr>
              <a:t>HƯỚNG XỬ LÝ</a:t>
            </a:r>
          </a:p>
        </p:txBody>
      </p:sp>
      <p:sp>
        <p:nvSpPr>
          <p:cNvPr id="5" name="Rounded Rectangle 4"/>
          <p:cNvSpPr/>
          <p:nvPr/>
        </p:nvSpPr>
        <p:spPr>
          <a:xfrm>
            <a:off x="548640" y="1486779"/>
            <a:ext cx="4806391" cy="88978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121" y="1486779"/>
            <a:ext cx="4436668" cy="889781"/>
          </a:xfrm>
          <a:prstGeom prst="rect">
            <a:avLst/>
          </a:prstGeom>
          <a:noFill/>
        </p:spPr>
        <p:txBody>
          <a:bodyPr wrap="square" lIns="0" tIns="0" rIns="0" bIns="0" anchor="ctr">
            <a:spAutoFit/>
          </a:bodyPr>
          <a:lstStyle/>
          <a:p>
            <a:pPr algn="l">
              <a:spcAft>
                <a:spcPts val="600"/>
              </a:spcAft>
            </a:pPr>
            <a:r>
              <a:rPr sz="1600" b="1" i="0">
                <a:solidFill>
                  <a:srgbClr val="1C1C1C"/>
                </a:solidFill>
                <a:latin typeface="Arial"/>
              </a:rPr>
              <a:t>Ma trận rất thưa (98.3%)</a:t>
            </a:r>
          </a:p>
        </p:txBody>
      </p:sp>
      <p:sp>
        <p:nvSpPr>
          <p:cNvPr id="7" name="Right Arrow 6"/>
          <p:cNvSpPr/>
          <p:nvPr/>
        </p:nvSpPr>
        <p:spPr>
          <a:xfrm>
            <a:off x="5502920" y="1747910"/>
            <a:ext cx="566907" cy="367518"/>
          </a:xfrm>
          <a:prstGeom prst="rightArrow">
            <a:avLst/>
          </a:prstGeom>
          <a:solidFill>
            <a:srgbClr val="5F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716" y="1486779"/>
            <a:ext cx="5422595" cy="88978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64198" y="1486779"/>
            <a:ext cx="5052872" cy="889781"/>
          </a:xfrm>
          <a:prstGeom prst="rect">
            <a:avLst/>
          </a:prstGeom>
          <a:noFill/>
        </p:spPr>
        <p:txBody>
          <a:bodyPr wrap="square" lIns="0" tIns="0" rIns="0" bIns="0" anchor="ctr">
            <a:spAutoFit/>
          </a:bodyPr>
          <a:lstStyle/>
          <a:p>
            <a:pPr algn="l">
              <a:spcAft>
                <a:spcPts val="600"/>
              </a:spcAft>
            </a:pPr>
            <a:r>
              <a:rPr sz="1600" b="0" i="0">
                <a:solidFill>
                  <a:srgbClr val="1C1C1C"/>
                </a:solidFill>
                <a:latin typeface="Arial"/>
              </a:rPr>
              <a:t>Regularization; phạt độ tương đồng ít bằng chứng (shrinkage)</a:t>
            </a:r>
          </a:p>
        </p:txBody>
      </p:sp>
      <p:sp>
        <p:nvSpPr>
          <p:cNvPr id="10" name="Rounded Rectangle 9"/>
          <p:cNvSpPr/>
          <p:nvPr/>
        </p:nvSpPr>
        <p:spPr>
          <a:xfrm>
            <a:off x="548640" y="2569991"/>
            <a:ext cx="4806391" cy="88978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121" y="2569991"/>
            <a:ext cx="4436668" cy="889781"/>
          </a:xfrm>
          <a:prstGeom prst="rect">
            <a:avLst/>
          </a:prstGeom>
          <a:noFill/>
        </p:spPr>
        <p:txBody>
          <a:bodyPr wrap="square" lIns="0" tIns="0" rIns="0" bIns="0" anchor="ctr">
            <a:spAutoFit/>
          </a:bodyPr>
          <a:lstStyle/>
          <a:p>
            <a:pPr algn="l">
              <a:spcAft>
                <a:spcPts val="600"/>
              </a:spcAft>
            </a:pPr>
            <a:r>
              <a:rPr sz="1600" b="1" i="0">
                <a:solidFill>
                  <a:srgbClr val="1C1C1C"/>
                </a:solidFill>
                <a:latin typeface="Arial"/>
              </a:rPr>
              <a:t>Điểm lệch theo người dùng và phim</a:t>
            </a:r>
          </a:p>
        </p:txBody>
      </p:sp>
      <p:sp>
        <p:nvSpPr>
          <p:cNvPr id="12" name="Right Arrow 11"/>
          <p:cNvSpPr/>
          <p:nvPr/>
        </p:nvSpPr>
        <p:spPr>
          <a:xfrm>
            <a:off x="5502920" y="2831123"/>
            <a:ext cx="566907" cy="367518"/>
          </a:xfrm>
          <a:prstGeom prst="rightArrow">
            <a:avLst/>
          </a:prstGeom>
          <a:solidFill>
            <a:srgbClr val="5F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17716" y="2569991"/>
            <a:ext cx="5422595" cy="88978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198" y="2569991"/>
            <a:ext cx="5052872" cy="889781"/>
          </a:xfrm>
          <a:prstGeom prst="rect">
            <a:avLst/>
          </a:prstGeom>
          <a:noFill/>
        </p:spPr>
        <p:txBody>
          <a:bodyPr wrap="square" lIns="0" tIns="0" rIns="0" bIns="0" anchor="ctr">
            <a:spAutoFit/>
          </a:bodyPr>
          <a:lstStyle/>
          <a:p>
            <a:pPr algn="l">
              <a:spcAft>
                <a:spcPts val="600"/>
              </a:spcAft>
            </a:pPr>
            <a:r>
              <a:rPr sz="1600" b="0" i="0">
                <a:solidFill>
                  <a:srgbClr val="1C1C1C"/>
                </a:solidFill>
                <a:latin typeface="Arial"/>
              </a:rPr>
              <a:t>Mô hình hoá μ + bᵤ + bᵢ trước phần tương tác</a:t>
            </a:r>
          </a:p>
        </p:txBody>
      </p:sp>
      <p:sp>
        <p:nvSpPr>
          <p:cNvPr id="15" name="Rounded Rectangle 14"/>
          <p:cNvSpPr/>
          <p:nvPr/>
        </p:nvSpPr>
        <p:spPr>
          <a:xfrm>
            <a:off x="548640" y="3653203"/>
            <a:ext cx="4806391" cy="88978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121" y="3653203"/>
            <a:ext cx="4436668" cy="889781"/>
          </a:xfrm>
          <a:prstGeom prst="rect">
            <a:avLst/>
          </a:prstGeom>
          <a:noFill/>
        </p:spPr>
        <p:txBody>
          <a:bodyPr wrap="square" lIns="0" tIns="0" rIns="0" bIns="0" anchor="ctr">
            <a:spAutoFit/>
          </a:bodyPr>
          <a:lstStyle/>
          <a:p>
            <a:pPr algn="l">
              <a:spcAft>
                <a:spcPts val="600"/>
              </a:spcAft>
            </a:pPr>
            <a:r>
              <a:rPr sz="1600" b="1" i="0">
                <a:solidFill>
                  <a:srgbClr val="1C1C1C"/>
                </a:solidFill>
                <a:latin typeface="Arial"/>
              </a:rPr>
              <a:t>Long-tail mạnh</a:t>
            </a:r>
          </a:p>
        </p:txBody>
      </p:sp>
      <p:sp>
        <p:nvSpPr>
          <p:cNvPr id="17" name="Right Arrow 16"/>
          <p:cNvSpPr/>
          <p:nvPr/>
        </p:nvSpPr>
        <p:spPr>
          <a:xfrm>
            <a:off x="5502920" y="3914335"/>
            <a:ext cx="566907" cy="367518"/>
          </a:xfrm>
          <a:prstGeom prst="rightArrow">
            <a:avLst/>
          </a:prstGeom>
          <a:solidFill>
            <a:srgbClr val="5F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17716" y="3653203"/>
            <a:ext cx="5422595" cy="88978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4198" y="3653203"/>
            <a:ext cx="5052872" cy="889781"/>
          </a:xfrm>
          <a:prstGeom prst="rect">
            <a:avLst/>
          </a:prstGeom>
          <a:noFill/>
        </p:spPr>
        <p:txBody>
          <a:bodyPr wrap="square" lIns="0" tIns="0" rIns="0" bIns="0" anchor="ctr">
            <a:spAutoFit/>
          </a:bodyPr>
          <a:lstStyle/>
          <a:p>
            <a:pPr algn="l">
              <a:spcAft>
                <a:spcPts val="600"/>
              </a:spcAft>
            </a:pPr>
            <a:r>
              <a:rPr sz="1600" b="0" i="0">
                <a:solidFill>
                  <a:srgbClr val="1C1C1C"/>
                </a:solidFill>
                <a:latin typeface="Arial"/>
              </a:rPr>
              <a:t>Popularity là baseline phải vượt; đo thêm độ đa dạng và mới lạ</a:t>
            </a:r>
          </a:p>
        </p:txBody>
      </p:sp>
      <p:sp>
        <p:nvSpPr>
          <p:cNvPr id="20" name="Rounded Rectangle 19"/>
          <p:cNvSpPr/>
          <p:nvPr/>
        </p:nvSpPr>
        <p:spPr>
          <a:xfrm>
            <a:off x="548640" y="4736416"/>
            <a:ext cx="4806391" cy="88978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121" y="4736416"/>
            <a:ext cx="4436668" cy="889781"/>
          </a:xfrm>
          <a:prstGeom prst="rect">
            <a:avLst/>
          </a:prstGeom>
          <a:noFill/>
        </p:spPr>
        <p:txBody>
          <a:bodyPr wrap="square" lIns="0" tIns="0" rIns="0" bIns="0" anchor="ctr">
            <a:spAutoFit/>
          </a:bodyPr>
          <a:lstStyle/>
          <a:p>
            <a:pPr algn="l">
              <a:spcAft>
                <a:spcPts val="600"/>
              </a:spcAft>
            </a:pPr>
            <a:r>
              <a:rPr sz="1600" b="1" i="0">
                <a:solidFill>
                  <a:srgbClr val="1C1C1C"/>
                </a:solidFill>
                <a:latin typeface="Arial"/>
              </a:rPr>
              <a:t>Phim mới, ít rating; tag thưa</a:t>
            </a:r>
          </a:p>
        </p:txBody>
      </p:sp>
      <p:sp>
        <p:nvSpPr>
          <p:cNvPr id="22" name="Right Arrow 21"/>
          <p:cNvSpPr/>
          <p:nvPr/>
        </p:nvSpPr>
        <p:spPr>
          <a:xfrm>
            <a:off x="5502920" y="4997547"/>
            <a:ext cx="566907" cy="367518"/>
          </a:xfrm>
          <a:prstGeom prst="rightArrow">
            <a:avLst/>
          </a:prstGeom>
          <a:solidFill>
            <a:srgbClr val="5F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17716" y="4736416"/>
            <a:ext cx="5422595" cy="889781"/>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64198" y="4736416"/>
            <a:ext cx="5052872" cy="889781"/>
          </a:xfrm>
          <a:prstGeom prst="rect">
            <a:avLst/>
          </a:prstGeom>
          <a:noFill/>
        </p:spPr>
        <p:txBody>
          <a:bodyPr wrap="square" lIns="0" tIns="0" rIns="0" bIns="0" anchor="ctr">
            <a:spAutoFit/>
          </a:bodyPr>
          <a:lstStyle/>
          <a:p>
            <a:pPr algn="l">
              <a:spcAft>
                <a:spcPts val="600"/>
              </a:spcAft>
            </a:pPr>
            <a:r>
              <a:rPr sz="1600" b="0" i="0">
                <a:solidFill>
                  <a:srgbClr val="1C1C1C"/>
                </a:solidFill>
                <a:latin typeface="Arial"/>
              </a:rPr>
              <a:t>Content-based (thể loại + tag + năm) và Hybrid</a:t>
            </a:r>
          </a:p>
        </p:txBody>
      </p:sp>
      <p:sp>
        <p:nvSpPr>
          <p:cNvPr id="25" name="TextBox 24"/>
          <p:cNvSpPr txBox="1"/>
          <p:nvPr/>
        </p:nvSpPr>
        <p:spPr>
          <a:xfrm>
            <a:off x="548640" y="5838971"/>
            <a:ext cx="11091672" cy="290146"/>
          </a:xfrm>
          <a:prstGeom prst="rect">
            <a:avLst/>
          </a:prstGeom>
          <a:noFill/>
        </p:spPr>
        <p:txBody>
          <a:bodyPr wrap="square" lIns="0" tIns="0" rIns="0" bIns="0" anchor="t">
            <a:spAutoFit/>
          </a:bodyPr>
          <a:lstStyle/>
          <a:p>
            <a:pPr algn="l">
              <a:spcAft>
                <a:spcPts val="600"/>
              </a:spcAft>
            </a:pPr>
            <a:r>
              <a:rPr sz="1300" b="0" i="1">
                <a:solidFill>
                  <a:srgbClr val="5F636B"/>
                </a:solidFill>
                <a:latin typeface="Arial"/>
              </a:rPr>
              <a:t>Mọi quyết định thiết kế ở các slide sau đều xuất phát từ bốn đặc điểm này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Hướng xử lý tổng quan</a:t>
            </a:r>
          </a:p>
        </p:txBody>
      </p:sp>
      <p:sp>
        <p:nvSpPr>
          <p:cNvPr id="3" name="Rounded Rectangle 2"/>
          <p:cNvSpPr/>
          <p:nvPr/>
        </p:nvSpPr>
        <p:spPr>
          <a:xfrm>
            <a:off x="548640" y="1148275"/>
            <a:ext cx="2403195" cy="2466242"/>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50824" y="1341706"/>
            <a:ext cx="406204" cy="40620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800" b="1" i="0">
                <a:solidFill>
                  <a:srgbClr val="FFFFFF"/>
                </a:solidFill>
                <a:latin typeface="Arial"/>
              </a:rPr>
              <a:t>1</a:t>
            </a:r>
          </a:p>
        </p:txBody>
      </p:sp>
      <p:sp>
        <p:nvSpPr>
          <p:cNvPr id="5" name="TextBox 4"/>
          <p:cNvSpPr txBox="1"/>
          <p:nvPr/>
        </p:nvSpPr>
        <p:spPr>
          <a:xfrm>
            <a:off x="795121" y="1873640"/>
            <a:ext cx="2033473" cy="2031023"/>
          </a:xfrm>
          <a:prstGeom prst="rect">
            <a:avLst/>
          </a:prstGeom>
          <a:noFill/>
        </p:spPr>
        <p:txBody>
          <a:bodyPr wrap="square" lIns="0" tIns="0" rIns="0" bIns="0" anchor="t">
            <a:spAutoFit/>
          </a:bodyPr>
          <a:lstStyle/>
          <a:p>
            <a:pPr algn="l">
              <a:spcAft>
                <a:spcPts val="800"/>
              </a:spcAft>
            </a:pPr>
            <a:r>
              <a:rPr sz="1800" b="1" i="0">
                <a:solidFill>
                  <a:srgbClr val="1C1C1C"/>
                </a:solidFill>
                <a:latin typeface="Arial"/>
              </a:rPr>
              <a:t>Baseline</a:t>
            </a:r>
          </a:p>
          <a:p>
            <a:pPr marL="228600" indent="-228600" algn="l">
              <a:spcAft>
                <a:spcPts val="300"/>
              </a:spcAft>
              <a:buClr>
                <a:srgbClr val="003366"/>
              </a:buClr>
              <a:buFont typeface="Arial"/>
              <a:buChar char="▪"/>
            </a:pPr>
            <a:r>
              <a:rPr sz="1400" b="0" i="0">
                <a:solidFill>
                  <a:srgbClr val="1C1C1C"/>
                </a:solidFill>
                <a:latin typeface="Arial"/>
              </a:rPr>
              <a:t>Random</a:t>
            </a:r>
          </a:p>
          <a:p>
            <a:pPr marL="228600" indent="-228600" algn="l">
              <a:spcAft>
                <a:spcPts val="300"/>
              </a:spcAft>
              <a:buClr>
                <a:srgbClr val="003366"/>
              </a:buClr>
              <a:buFont typeface="Arial"/>
              <a:buChar char="▪"/>
            </a:pPr>
            <a:r>
              <a:rPr sz="1400" b="0" i="0">
                <a:solidFill>
                  <a:srgbClr val="1C1C1C"/>
                </a:solidFill>
                <a:latin typeface="Arial"/>
              </a:rPr>
              <a:t>Popularity</a:t>
            </a:r>
          </a:p>
          <a:p>
            <a:pPr marL="228600" indent="-228600" algn="l">
              <a:spcAft>
                <a:spcPts val="300"/>
              </a:spcAft>
              <a:buClr>
                <a:srgbClr val="003366"/>
              </a:buClr>
              <a:buFont typeface="Arial"/>
              <a:buChar char="▪"/>
            </a:pPr>
            <a:r>
              <a:rPr sz="1400" b="0" i="0">
                <a:solidFill>
                  <a:srgbClr val="1C1C1C"/>
                </a:solidFill>
                <a:latin typeface="Arial"/>
              </a:rPr>
              <a:t>Top-rated</a:t>
            </a:r>
          </a:p>
          <a:p>
            <a:pPr marL="228600" indent="-228600" algn="l">
              <a:spcAft>
                <a:spcPts val="300"/>
              </a:spcAft>
              <a:buClr>
                <a:srgbClr val="003366"/>
              </a:buClr>
              <a:buFont typeface="Arial"/>
              <a:buChar char="▪"/>
            </a:pPr>
            <a:r>
              <a:rPr sz="1400" b="0" i="0">
                <a:solidFill>
                  <a:srgbClr val="1C1C1C"/>
                </a:solidFill>
                <a:latin typeface="Arial"/>
              </a:rPr>
              <a:t>Bias μ + bᵤ + bᵢ</a:t>
            </a:r>
          </a:p>
        </p:txBody>
      </p:sp>
      <p:sp>
        <p:nvSpPr>
          <p:cNvPr id="6" name="Right Arrow 5"/>
          <p:cNvSpPr/>
          <p:nvPr/>
        </p:nvSpPr>
        <p:spPr>
          <a:xfrm>
            <a:off x="3013456" y="2212144"/>
            <a:ext cx="369722" cy="348175"/>
          </a:xfrm>
          <a:prstGeom prst="rightArrow">
            <a:avLst/>
          </a:prstGeom>
          <a:solidFill>
            <a:srgbClr val="5F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44798" y="1148275"/>
            <a:ext cx="2403195" cy="2466242"/>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746983" y="1341706"/>
            <a:ext cx="406204" cy="40620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800" b="1" i="0">
                <a:solidFill>
                  <a:srgbClr val="FFFFFF"/>
                </a:solidFill>
                <a:latin typeface="Arial"/>
              </a:rPr>
              <a:t>2</a:t>
            </a:r>
          </a:p>
        </p:txBody>
      </p:sp>
      <p:sp>
        <p:nvSpPr>
          <p:cNvPr id="9" name="TextBox 8"/>
          <p:cNvSpPr txBox="1"/>
          <p:nvPr/>
        </p:nvSpPr>
        <p:spPr>
          <a:xfrm>
            <a:off x="3691280" y="1873640"/>
            <a:ext cx="2033473" cy="2031023"/>
          </a:xfrm>
          <a:prstGeom prst="rect">
            <a:avLst/>
          </a:prstGeom>
          <a:noFill/>
        </p:spPr>
        <p:txBody>
          <a:bodyPr wrap="square" lIns="0" tIns="0" rIns="0" bIns="0" anchor="t">
            <a:spAutoFit/>
          </a:bodyPr>
          <a:lstStyle/>
          <a:p>
            <a:pPr algn="l">
              <a:spcAft>
                <a:spcPts val="800"/>
              </a:spcAft>
            </a:pPr>
            <a:r>
              <a:rPr sz="1800" b="1" i="0">
                <a:solidFill>
                  <a:srgbClr val="1C1C1C"/>
                </a:solidFill>
                <a:latin typeface="Arial"/>
              </a:rPr>
              <a:t>Lọc cộng tác</a:t>
            </a:r>
          </a:p>
          <a:p>
            <a:pPr marL="228600" indent="-228600" algn="l">
              <a:spcAft>
                <a:spcPts val="300"/>
              </a:spcAft>
              <a:buClr>
                <a:srgbClr val="003366"/>
              </a:buClr>
              <a:buFont typeface="Arial"/>
              <a:buChar char="▪"/>
            </a:pPr>
            <a:r>
              <a:rPr sz="1400" b="0" i="0">
                <a:solidFill>
                  <a:srgbClr val="1C1C1C"/>
                </a:solidFill>
                <a:latin typeface="Arial"/>
              </a:rPr>
              <a:t>Item-kNN</a:t>
            </a:r>
          </a:p>
          <a:p>
            <a:pPr marL="228600" indent="-228600" algn="l">
              <a:spcAft>
                <a:spcPts val="300"/>
              </a:spcAft>
              <a:buClr>
                <a:srgbClr val="003366"/>
              </a:buClr>
              <a:buFont typeface="Arial"/>
              <a:buChar char="▪"/>
            </a:pPr>
            <a:r>
              <a:rPr sz="1400" b="0" i="0">
                <a:solidFill>
                  <a:srgbClr val="1C1C1C"/>
                </a:solidFill>
                <a:latin typeface="Arial"/>
              </a:rPr>
              <a:t>MF-ALS</a:t>
            </a:r>
          </a:p>
          <a:p>
            <a:pPr marL="228600" indent="-228600" algn="l">
              <a:spcAft>
                <a:spcPts val="300"/>
              </a:spcAft>
              <a:buClr>
                <a:srgbClr val="003366"/>
              </a:buClr>
              <a:buFont typeface="Arial"/>
              <a:buChar char="▪"/>
            </a:pPr>
            <a:r>
              <a:rPr sz="1400" b="0" i="0">
                <a:solidFill>
                  <a:srgbClr val="1C1C1C"/>
                </a:solidFill>
                <a:latin typeface="Arial"/>
              </a:rPr>
              <a:t>EASE</a:t>
            </a:r>
          </a:p>
        </p:txBody>
      </p:sp>
      <p:sp>
        <p:nvSpPr>
          <p:cNvPr id="10" name="Right Arrow 9"/>
          <p:cNvSpPr/>
          <p:nvPr/>
        </p:nvSpPr>
        <p:spPr>
          <a:xfrm>
            <a:off x="5909614" y="2212144"/>
            <a:ext cx="369722" cy="348175"/>
          </a:xfrm>
          <a:prstGeom prst="rightArrow">
            <a:avLst/>
          </a:prstGeom>
          <a:solidFill>
            <a:srgbClr val="5F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40957" y="1148275"/>
            <a:ext cx="2403195" cy="2466242"/>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643142" y="1341706"/>
            <a:ext cx="406204" cy="40620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800" b="1" i="0">
                <a:solidFill>
                  <a:srgbClr val="FFFFFF"/>
                </a:solidFill>
                <a:latin typeface="Arial"/>
              </a:rPr>
              <a:t>3</a:t>
            </a:r>
          </a:p>
        </p:txBody>
      </p:sp>
      <p:sp>
        <p:nvSpPr>
          <p:cNvPr id="13" name="TextBox 12"/>
          <p:cNvSpPr txBox="1"/>
          <p:nvPr/>
        </p:nvSpPr>
        <p:spPr>
          <a:xfrm>
            <a:off x="6587439" y="1873640"/>
            <a:ext cx="2033473" cy="2031023"/>
          </a:xfrm>
          <a:prstGeom prst="rect">
            <a:avLst/>
          </a:prstGeom>
          <a:noFill/>
        </p:spPr>
        <p:txBody>
          <a:bodyPr wrap="square" lIns="0" tIns="0" rIns="0" bIns="0" anchor="t">
            <a:spAutoFit/>
          </a:bodyPr>
          <a:lstStyle/>
          <a:p>
            <a:pPr algn="l">
              <a:spcAft>
                <a:spcPts val="800"/>
              </a:spcAft>
            </a:pPr>
            <a:r>
              <a:rPr sz="1800" b="1" i="0">
                <a:solidFill>
                  <a:srgbClr val="1C1C1C"/>
                </a:solidFill>
                <a:latin typeface="Arial"/>
              </a:rPr>
              <a:t>Content-based</a:t>
            </a:r>
          </a:p>
          <a:p>
            <a:pPr marL="228600" indent="-228600" algn="l">
              <a:spcAft>
                <a:spcPts val="300"/>
              </a:spcAft>
              <a:buClr>
                <a:srgbClr val="003366"/>
              </a:buClr>
              <a:buFont typeface="Arial"/>
              <a:buChar char="▪"/>
            </a:pPr>
            <a:r>
              <a:rPr sz="1400" b="0" i="0">
                <a:solidFill>
                  <a:srgbClr val="1C1C1C"/>
                </a:solidFill>
                <a:latin typeface="Arial"/>
              </a:rPr>
              <a:t>Thể loại</a:t>
            </a:r>
          </a:p>
          <a:p>
            <a:pPr marL="228600" indent="-228600" algn="l">
              <a:spcAft>
                <a:spcPts val="300"/>
              </a:spcAft>
              <a:buClr>
                <a:srgbClr val="003366"/>
              </a:buClr>
              <a:buFont typeface="Arial"/>
              <a:buChar char="▪"/>
            </a:pPr>
            <a:r>
              <a:rPr sz="1400" b="0" i="0">
                <a:solidFill>
                  <a:srgbClr val="1C1C1C"/>
                </a:solidFill>
                <a:latin typeface="Arial"/>
              </a:rPr>
              <a:t>Tag</a:t>
            </a:r>
          </a:p>
          <a:p>
            <a:pPr marL="228600" indent="-228600" algn="l">
              <a:spcAft>
                <a:spcPts val="300"/>
              </a:spcAft>
              <a:buClr>
                <a:srgbClr val="003366"/>
              </a:buClr>
              <a:buFont typeface="Arial"/>
              <a:buChar char="▪"/>
            </a:pPr>
            <a:r>
              <a:rPr sz="1400" b="0" i="0">
                <a:solidFill>
                  <a:srgbClr val="1C1C1C"/>
                </a:solidFill>
                <a:latin typeface="Arial"/>
              </a:rPr>
              <a:t>Thập niên</a:t>
            </a:r>
          </a:p>
        </p:txBody>
      </p:sp>
      <p:sp>
        <p:nvSpPr>
          <p:cNvPr id="14" name="Right Arrow 13"/>
          <p:cNvSpPr/>
          <p:nvPr/>
        </p:nvSpPr>
        <p:spPr>
          <a:xfrm>
            <a:off x="8805773" y="2212144"/>
            <a:ext cx="369722" cy="348175"/>
          </a:xfrm>
          <a:prstGeom prst="rightArrow">
            <a:avLst/>
          </a:prstGeom>
          <a:solidFill>
            <a:srgbClr val="5F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237116" y="1148275"/>
            <a:ext cx="2403195" cy="2466242"/>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539301" y="1341706"/>
            <a:ext cx="406204" cy="40620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800" b="1" i="0">
                <a:solidFill>
                  <a:srgbClr val="FFFFFF"/>
                </a:solidFill>
                <a:latin typeface="Arial"/>
              </a:rPr>
              <a:t>4</a:t>
            </a:r>
          </a:p>
        </p:txBody>
      </p:sp>
      <p:sp>
        <p:nvSpPr>
          <p:cNvPr id="17" name="TextBox 16"/>
          <p:cNvSpPr txBox="1"/>
          <p:nvPr/>
        </p:nvSpPr>
        <p:spPr>
          <a:xfrm>
            <a:off x="9483598" y="1873640"/>
            <a:ext cx="2033473" cy="2031023"/>
          </a:xfrm>
          <a:prstGeom prst="rect">
            <a:avLst/>
          </a:prstGeom>
          <a:noFill/>
        </p:spPr>
        <p:txBody>
          <a:bodyPr wrap="square" lIns="0" tIns="0" rIns="0" bIns="0" anchor="t">
            <a:spAutoFit/>
          </a:bodyPr>
          <a:lstStyle/>
          <a:p>
            <a:pPr algn="l">
              <a:spcAft>
                <a:spcPts val="800"/>
              </a:spcAft>
            </a:pPr>
            <a:r>
              <a:rPr sz="1800" b="1" i="0">
                <a:solidFill>
                  <a:srgbClr val="1C1C1C"/>
                </a:solidFill>
                <a:latin typeface="Arial"/>
              </a:rPr>
              <a:t>Hybrid</a:t>
            </a:r>
          </a:p>
          <a:p>
            <a:pPr marL="228600" indent="-228600" algn="l">
              <a:spcAft>
                <a:spcPts val="300"/>
              </a:spcAft>
              <a:buClr>
                <a:srgbClr val="003366"/>
              </a:buClr>
              <a:buFont typeface="Arial"/>
              <a:buChar char="▪"/>
            </a:pPr>
            <a:r>
              <a:rPr sz="1400" b="0" i="0">
                <a:solidFill>
                  <a:srgbClr val="1C1C1C"/>
                </a:solidFill>
                <a:latin typeface="Arial"/>
              </a:rPr>
              <a:t>CF + Content</a:t>
            </a:r>
          </a:p>
          <a:p>
            <a:pPr marL="228600" indent="-228600" algn="l">
              <a:spcAft>
                <a:spcPts val="300"/>
              </a:spcAft>
              <a:buClr>
                <a:srgbClr val="003366"/>
              </a:buClr>
              <a:buFont typeface="Arial"/>
              <a:buChar char="▪"/>
            </a:pPr>
            <a:r>
              <a:rPr sz="1400" b="0" i="0">
                <a:solidFill>
                  <a:srgbClr val="1C1C1C"/>
                </a:solidFill>
                <a:latin typeface="Arial"/>
              </a:rPr>
              <a:t>trọng số chọn trên validation</a:t>
            </a:r>
          </a:p>
        </p:txBody>
      </p:sp>
      <p:sp>
        <p:nvSpPr>
          <p:cNvPr id="18" name="Rounded Rectangle 17"/>
          <p:cNvSpPr/>
          <p:nvPr/>
        </p:nvSpPr>
        <p:spPr>
          <a:xfrm>
            <a:off x="548640" y="3904663"/>
            <a:ext cx="5422595" cy="1547446"/>
          </a:xfrm>
          <a:prstGeom prst="roundRect">
            <a:avLst>
              <a:gd name="adj" fmla="val 6000"/>
            </a:avLst>
          </a:prstGeom>
          <a:solidFill>
            <a:srgbClr val="FFFFFF"/>
          </a:solidFill>
          <a:ln w="12700">
            <a:solidFill>
              <a:srgbClr val="C6C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6742" y="3904663"/>
            <a:ext cx="4868011" cy="1547446"/>
          </a:xfrm>
          <a:prstGeom prst="rect">
            <a:avLst/>
          </a:prstGeom>
          <a:noFill/>
        </p:spPr>
        <p:txBody>
          <a:bodyPr wrap="square" lIns="0" tIns="0" rIns="0" bIns="0" anchor="ctr">
            <a:spAutoFit/>
          </a:bodyPr>
          <a:lstStyle/>
          <a:p>
            <a:pPr algn="l">
              <a:spcAft>
                <a:spcPts val="400"/>
              </a:spcAft>
            </a:pPr>
            <a:r>
              <a:rPr sz="1800" b="1" i="0">
                <a:solidFill>
                  <a:srgbClr val="003366"/>
                </a:solidFill>
                <a:latin typeface="Arial"/>
              </a:rPr>
              <a:t>So sánh công bằng</a:t>
            </a:r>
          </a:p>
          <a:p>
            <a:pPr algn="l">
              <a:spcAft>
                <a:spcPts val="600"/>
              </a:spcAft>
            </a:pPr>
            <a:r>
              <a:rPr sz="1500" b="0" i="0">
                <a:solidFill>
                  <a:srgbClr val="1C1C1C"/>
                </a:solidFill>
                <a:latin typeface="Arial"/>
              </a:rPr>
              <a:t>Mọi mô hình chạy trên cùng cách chia dữ liệu và cùng bộ chỉ số.</a:t>
            </a:r>
          </a:p>
        </p:txBody>
      </p:sp>
      <p:sp>
        <p:nvSpPr>
          <p:cNvPr id="20" name="Rounded Rectangle 19"/>
          <p:cNvSpPr/>
          <p:nvPr/>
        </p:nvSpPr>
        <p:spPr>
          <a:xfrm>
            <a:off x="6217716" y="3904663"/>
            <a:ext cx="5422595" cy="1547446"/>
          </a:xfrm>
          <a:prstGeom prst="roundRect">
            <a:avLst>
              <a:gd name="adj" fmla="val 6000"/>
            </a:avLst>
          </a:prstGeom>
          <a:solidFill>
            <a:srgbClr val="FFFFFF"/>
          </a:solidFill>
          <a:ln w="12700">
            <a:solidFill>
              <a:srgbClr val="C6C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25818" y="3904663"/>
            <a:ext cx="4868011" cy="1547446"/>
          </a:xfrm>
          <a:prstGeom prst="rect">
            <a:avLst/>
          </a:prstGeom>
          <a:noFill/>
        </p:spPr>
        <p:txBody>
          <a:bodyPr wrap="square" lIns="0" tIns="0" rIns="0" bIns="0" anchor="ctr">
            <a:spAutoFit/>
          </a:bodyPr>
          <a:lstStyle/>
          <a:p>
            <a:pPr algn="l">
              <a:spcAft>
                <a:spcPts val="400"/>
              </a:spcAft>
            </a:pPr>
            <a:r>
              <a:rPr sz="1800" b="1" i="0">
                <a:solidFill>
                  <a:srgbClr val="003366"/>
                </a:solidFill>
                <a:latin typeface="Arial"/>
              </a:rPr>
              <a:t>Gợi ý có giải thích</a:t>
            </a:r>
          </a:p>
          <a:p>
            <a:pPr algn="l">
              <a:spcAft>
                <a:spcPts val="600"/>
              </a:spcAft>
            </a:pPr>
            <a:r>
              <a:rPr sz="1500" b="0" i="0">
                <a:solidFill>
                  <a:srgbClr val="1C1C1C"/>
                </a:solidFill>
                <a:latin typeface="Arial"/>
              </a:rPr>
              <a:t>Điểm của mỗi gợi ý được tách thành đóng góp của từng phim đã xem hoặc từng đặc trưng nội dung.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Bước 2 · Lọc cộng tác</a:t>
            </a:r>
          </a:p>
        </p:txBody>
      </p:sp>
      <p:sp>
        <p:nvSpPr>
          <p:cNvPr id="3" name="Rounded Rectangle 2"/>
          <p:cNvSpPr/>
          <p:nvPr/>
        </p:nvSpPr>
        <p:spPr>
          <a:xfrm>
            <a:off x="548640" y="1148275"/>
            <a:ext cx="3512362" cy="4352192"/>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96530" y="1390063"/>
            <a:ext cx="290146" cy="290146"/>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1325" y="1312691"/>
            <a:ext cx="2464816" cy="444890"/>
          </a:xfrm>
          <a:prstGeom prst="rect">
            <a:avLst/>
          </a:prstGeom>
          <a:noFill/>
        </p:spPr>
        <p:txBody>
          <a:bodyPr wrap="square" lIns="0" tIns="0" rIns="0" bIns="0" anchor="ctr">
            <a:spAutoFit/>
          </a:bodyPr>
          <a:lstStyle/>
          <a:p>
            <a:pPr algn="l">
              <a:spcAft>
                <a:spcPts val="600"/>
              </a:spcAft>
            </a:pPr>
            <a:r>
              <a:rPr sz="2000" b="1" i="0">
                <a:solidFill>
                  <a:srgbClr val="1C1C1C"/>
                </a:solidFill>
                <a:latin typeface="Arial"/>
              </a:rPr>
              <a:t>Item-kNN [3]</a:t>
            </a:r>
          </a:p>
        </p:txBody>
      </p:sp>
      <p:sp>
        <p:nvSpPr>
          <p:cNvPr id="6" name="TextBox 5"/>
          <p:cNvSpPr txBox="1"/>
          <p:nvPr/>
        </p:nvSpPr>
        <p:spPr>
          <a:xfrm>
            <a:off x="856742" y="1921998"/>
            <a:ext cx="2957779" cy="918796"/>
          </a:xfrm>
          <a:prstGeom prst="rect">
            <a:avLst/>
          </a:prstGeom>
          <a:noFill/>
        </p:spPr>
        <p:txBody>
          <a:bodyPr wrap="square" lIns="0" tIns="0" rIns="0" bIns="0" anchor="t">
            <a:spAutoFit/>
          </a:bodyPr>
          <a:lstStyle/>
          <a:p>
            <a:pPr algn="l">
              <a:spcAft>
                <a:spcPts val="200"/>
              </a:spcAft>
            </a:pPr>
            <a:r>
              <a:rPr sz="1300" b="1" i="0">
                <a:solidFill>
                  <a:srgbClr val="003366"/>
                </a:solidFill>
                <a:latin typeface="Arial"/>
              </a:rPr>
              <a:t>Ý tưởng</a:t>
            </a:r>
          </a:p>
          <a:p>
            <a:pPr algn="l">
              <a:spcAft>
                <a:spcPts val="200"/>
              </a:spcAft>
            </a:pPr>
            <a:r>
              <a:rPr sz="1500" b="0" i="0">
                <a:solidFill>
                  <a:srgbClr val="1C1C1C"/>
                </a:solidFill>
                <a:latin typeface="Arial"/>
              </a:rPr>
              <a:t>Phim tương tự những phim bạn đã thích</a:t>
            </a:r>
          </a:p>
        </p:txBody>
      </p:sp>
      <p:sp>
        <p:nvSpPr>
          <p:cNvPr id="7" name="Rounded Rectangle 6"/>
          <p:cNvSpPr/>
          <p:nvPr/>
        </p:nvSpPr>
        <p:spPr>
          <a:xfrm>
            <a:off x="795121" y="2937510"/>
            <a:ext cx="3019399" cy="111222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6742" y="2937510"/>
            <a:ext cx="2896158" cy="1112226"/>
          </a:xfrm>
          <a:prstGeom prst="rect">
            <a:avLst/>
          </a:prstGeom>
          <a:noFill/>
        </p:spPr>
        <p:txBody>
          <a:bodyPr wrap="square" lIns="0" tIns="0" rIns="0" bIns="0" anchor="ctr">
            <a:spAutoFit/>
          </a:bodyPr>
          <a:lstStyle/>
          <a:p>
            <a:pPr algn="ctr">
              <a:spcAft>
                <a:spcPts val="400"/>
              </a:spcAft>
            </a:pPr>
            <a:r>
              <a:rPr sz="1500" b="0" i="0">
                <a:solidFill>
                  <a:srgbClr val="1C1C1C"/>
                </a:solidFill>
                <a:latin typeface="Cambria"/>
              </a:rPr>
              <a:t>sᵢⱼ = cos(r̃ᵢ, r̃ⱼ) · nᵢⱼ/(nᵢⱼ+λ)</a:t>
            </a:r>
          </a:p>
          <a:p>
            <a:pPr algn="ctr">
              <a:spcAft>
                <a:spcPts val="0"/>
              </a:spcAft>
            </a:pPr>
            <a:r>
              <a:rPr sz="1300" b="0" i="0">
                <a:solidFill>
                  <a:srgbClr val="5F636B"/>
                </a:solidFill>
                <a:latin typeface="Arial"/>
              </a:rPr>
              <a:t>r̃ = r − (μ + bᵤ + bᵢ)</a:t>
            </a:r>
          </a:p>
        </p:txBody>
      </p:sp>
      <p:sp>
        <p:nvSpPr>
          <p:cNvPr id="9" name="TextBox 8"/>
          <p:cNvSpPr txBox="1"/>
          <p:nvPr/>
        </p:nvSpPr>
        <p:spPr>
          <a:xfrm>
            <a:off x="856742" y="4243167"/>
            <a:ext cx="2957779" cy="1160584"/>
          </a:xfrm>
          <a:prstGeom prst="rect">
            <a:avLst/>
          </a:prstGeom>
          <a:noFill/>
        </p:spPr>
        <p:txBody>
          <a:bodyPr wrap="square" lIns="0" tIns="0" rIns="0" bIns="0" anchor="t">
            <a:spAutoFit/>
          </a:bodyPr>
          <a:lstStyle/>
          <a:p>
            <a:pPr algn="l">
              <a:spcAft>
                <a:spcPts val="200"/>
              </a:spcAft>
            </a:pPr>
            <a:r>
              <a:rPr sz="1300" b="1" i="0">
                <a:solidFill>
                  <a:srgbClr val="003366"/>
                </a:solidFill>
                <a:latin typeface="Arial"/>
              </a:rPr>
              <a:t>Điểm mạnh</a:t>
            </a:r>
          </a:p>
          <a:p>
            <a:pPr algn="l">
              <a:spcAft>
                <a:spcPts val="200"/>
              </a:spcAft>
            </a:pPr>
            <a:r>
              <a:rPr sz="1500" b="0" i="0">
                <a:solidFill>
                  <a:srgbClr val="1C1C1C"/>
                </a:solidFill>
                <a:latin typeface="Arial"/>
              </a:rPr>
              <a:t>Dễ giải thích: “vì bạn thích X, Y”</a:t>
            </a:r>
          </a:p>
        </p:txBody>
      </p:sp>
      <p:sp>
        <p:nvSpPr>
          <p:cNvPr id="10" name="Rounded Rectangle 9"/>
          <p:cNvSpPr/>
          <p:nvPr/>
        </p:nvSpPr>
        <p:spPr>
          <a:xfrm>
            <a:off x="4344456" y="1148275"/>
            <a:ext cx="3512362" cy="4352192"/>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92346" y="1390063"/>
            <a:ext cx="290146" cy="290146"/>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07142" y="1312691"/>
            <a:ext cx="2464816" cy="444890"/>
          </a:xfrm>
          <a:prstGeom prst="rect">
            <a:avLst/>
          </a:prstGeom>
          <a:noFill/>
        </p:spPr>
        <p:txBody>
          <a:bodyPr wrap="square" lIns="0" tIns="0" rIns="0" bIns="0" anchor="ctr">
            <a:spAutoFit/>
          </a:bodyPr>
          <a:lstStyle/>
          <a:p>
            <a:pPr algn="l">
              <a:spcAft>
                <a:spcPts val="600"/>
              </a:spcAft>
            </a:pPr>
            <a:r>
              <a:rPr sz="2000" b="1" i="0">
                <a:solidFill>
                  <a:srgbClr val="1C1C1C"/>
                </a:solidFill>
                <a:latin typeface="Arial"/>
              </a:rPr>
              <a:t>MF-ALS [2]</a:t>
            </a:r>
          </a:p>
        </p:txBody>
      </p:sp>
      <p:sp>
        <p:nvSpPr>
          <p:cNvPr id="13" name="TextBox 12"/>
          <p:cNvSpPr txBox="1"/>
          <p:nvPr/>
        </p:nvSpPr>
        <p:spPr>
          <a:xfrm>
            <a:off x="4652558" y="1921998"/>
            <a:ext cx="2957779" cy="918796"/>
          </a:xfrm>
          <a:prstGeom prst="rect">
            <a:avLst/>
          </a:prstGeom>
          <a:noFill/>
        </p:spPr>
        <p:txBody>
          <a:bodyPr wrap="square" lIns="0" tIns="0" rIns="0" bIns="0" anchor="t">
            <a:spAutoFit/>
          </a:bodyPr>
          <a:lstStyle/>
          <a:p>
            <a:pPr algn="l">
              <a:spcAft>
                <a:spcPts val="200"/>
              </a:spcAft>
            </a:pPr>
            <a:r>
              <a:rPr sz="1300" b="1" i="0">
                <a:solidFill>
                  <a:srgbClr val="003366"/>
                </a:solidFill>
                <a:latin typeface="Arial"/>
              </a:rPr>
              <a:t>Ý tưởng</a:t>
            </a:r>
          </a:p>
          <a:p>
            <a:pPr algn="l">
              <a:spcAft>
                <a:spcPts val="200"/>
              </a:spcAft>
            </a:pPr>
            <a:r>
              <a:rPr sz="1500" b="0" i="0">
                <a:solidFill>
                  <a:srgbClr val="1C1C1C"/>
                </a:solidFill>
                <a:latin typeface="Arial"/>
              </a:rPr>
              <a:t>Người dùng và phim là vector ẩn k chiều</a:t>
            </a:r>
          </a:p>
        </p:txBody>
      </p:sp>
      <p:sp>
        <p:nvSpPr>
          <p:cNvPr id="14" name="Rounded Rectangle 13"/>
          <p:cNvSpPr/>
          <p:nvPr/>
        </p:nvSpPr>
        <p:spPr>
          <a:xfrm>
            <a:off x="4590938" y="2937510"/>
            <a:ext cx="3019399" cy="111222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52558" y="2937510"/>
            <a:ext cx="2896158" cy="1112226"/>
          </a:xfrm>
          <a:prstGeom prst="rect">
            <a:avLst/>
          </a:prstGeom>
          <a:noFill/>
        </p:spPr>
        <p:txBody>
          <a:bodyPr wrap="square" lIns="0" tIns="0" rIns="0" bIns="0" anchor="ctr">
            <a:spAutoFit/>
          </a:bodyPr>
          <a:lstStyle/>
          <a:p>
            <a:pPr algn="ctr">
              <a:spcAft>
                <a:spcPts val="400"/>
              </a:spcAft>
            </a:pPr>
            <a:r>
              <a:rPr sz="1500" b="0" i="0">
                <a:solidFill>
                  <a:srgbClr val="1C1C1C"/>
                </a:solidFill>
                <a:latin typeface="Cambria"/>
              </a:rPr>
              <a:t>r̂ᵤᵢ = μ + bᵤ + bᵢ + pᵤᵀqᵢ</a:t>
            </a:r>
          </a:p>
          <a:p>
            <a:pPr algn="ctr">
              <a:spcAft>
                <a:spcPts val="0"/>
              </a:spcAft>
            </a:pPr>
            <a:r>
              <a:rPr sz="1300" b="0" i="0">
                <a:solidFill>
                  <a:srgbClr val="5F636B"/>
                </a:solidFill>
                <a:latin typeface="Arial"/>
              </a:rPr>
              <a:t>tối ưu luân phiên P, Q (ALS)</a:t>
            </a:r>
          </a:p>
        </p:txBody>
      </p:sp>
      <p:sp>
        <p:nvSpPr>
          <p:cNvPr id="16" name="TextBox 15"/>
          <p:cNvSpPr txBox="1"/>
          <p:nvPr/>
        </p:nvSpPr>
        <p:spPr>
          <a:xfrm>
            <a:off x="4652558" y="4243167"/>
            <a:ext cx="2957779" cy="1160584"/>
          </a:xfrm>
          <a:prstGeom prst="rect">
            <a:avLst/>
          </a:prstGeom>
          <a:noFill/>
        </p:spPr>
        <p:txBody>
          <a:bodyPr wrap="square" lIns="0" tIns="0" rIns="0" bIns="0" anchor="t">
            <a:spAutoFit/>
          </a:bodyPr>
          <a:lstStyle/>
          <a:p>
            <a:pPr algn="l">
              <a:spcAft>
                <a:spcPts val="200"/>
              </a:spcAft>
            </a:pPr>
            <a:r>
              <a:rPr sz="1300" b="1" i="0">
                <a:solidFill>
                  <a:srgbClr val="003366"/>
                </a:solidFill>
                <a:latin typeface="Arial"/>
              </a:rPr>
              <a:t>Điểm mạnh</a:t>
            </a:r>
          </a:p>
          <a:p>
            <a:pPr algn="l">
              <a:spcAft>
                <a:spcPts val="200"/>
              </a:spcAft>
            </a:pPr>
            <a:r>
              <a:rPr sz="1500" b="0" i="0">
                <a:solidFill>
                  <a:srgbClr val="1C1C1C"/>
                </a:solidFill>
                <a:latin typeface="Arial"/>
              </a:rPr>
              <a:t>Nắm bắt sở thích tiềm ẩn</a:t>
            </a:r>
          </a:p>
        </p:txBody>
      </p:sp>
      <p:sp>
        <p:nvSpPr>
          <p:cNvPr id="17" name="Rounded Rectangle 16"/>
          <p:cNvSpPr/>
          <p:nvPr/>
        </p:nvSpPr>
        <p:spPr>
          <a:xfrm>
            <a:off x="8140273" y="1148275"/>
            <a:ext cx="3512362" cy="4352192"/>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488163" y="1390063"/>
            <a:ext cx="290146" cy="290146"/>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02958" y="1312691"/>
            <a:ext cx="2464816" cy="444890"/>
          </a:xfrm>
          <a:prstGeom prst="rect">
            <a:avLst/>
          </a:prstGeom>
          <a:noFill/>
        </p:spPr>
        <p:txBody>
          <a:bodyPr wrap="square" lIns="0" tIns="0" rIns="0" bIns="0" anchor="ctr">
            <a:spAutoFit/>
          </a:bodyPr>
          <a:lstStyle/>
          <a:p>
            <a:pPr algn="l">
              <a:spcAft>
                <a:spcPts val="600"/>
              </a:spcAft>
            </a:pPr>
            <a:r>
              <a:rPr sz="2000" b="1" i="0">
                <a:solidFill>
                  <a:srgbClr val="1C1C1C"/>
                </a:solidFill>
                <a:latin typeface="Arial"/>
              </a:rPr>
              <a:t>EASE [4]</a:t>
            </a:r>
          </a:p>
        </p:txBody>
      </p:sp>
      <p:sp>
        <p:nvSpPr>
          <p:cNvPr id="20" name="TextBox 19"/>
          <p:cNvSpPr txBox="1"/>
          <p:nvPr/>
        </p:nvSpPr>
        <p:spPr>
          <a:xfrm>
            <a:off x="8448375" y="1921998"/>
            <a:ext cx="2957779" cy="918796"/>
          </a:xfrm>
          <a:prstGeom prst="rect">
            <a:avLst/>
          </a:prstGeom>
          <a:noFill/>
        </p:spPr>
        <p:txBody>
          <a:bodyPr wrap="square" lIns="0" tIns="0" rIns="0" bIns="0" anchor="t">
            <a:spAutoFit/>
          </a:bodyPr>
          <a:lstStyle/>
          <a:p>
            <a:pPr algn="l">
              <a:spcAft>
                <a:spcPts val="200"/>
              </a:spcAft>
            </a:pPr>
            <a:r>
              <a:rPr sz="1300" b="1" i="0">
                <a:solidFill>
                  <a:srgbClr val="003366"/>
                </a:solidFill>
                <a:latin typeface="Arial"/>
              </a:rPr>
              <a:t>Ý tưởng</a:t>
            </a:r>
          </a:p>
          <a:p>
            <a:pPr algn="l">
              <a:spcAft>
                <a:spcPts val="200"/>
              </a:spcAft>
            </a:pPr>
            <a:r>
              <a:rPr sz="1500" b="0" i="0">
                <a:solidFill>
                  <a:srgbClr val="1C1C1C"/>
                </a:solidFill>
                <a:latin typeface="Arial"/>
              </a:rPr>
              <a:t>Phản hồi ngầm: đã xem = 1, chưa xem = 0</a:t>
            </a:r>
          </a:p>
        </p:txBody>
      </p:sp>
      <p:sp>
        <p:nvSpPr>
          <p:cNvPr id="21" name="Rounded Rectangle 20"/>
          <p:cNvSpPr/>
          <p:nvPr/>
        </p:nvSpPr>
        <p:spPr>
          <a:xfrm>
            <a:off x="8386754" y="2937510"/>
            <a:ext cx="3019399" cy="111222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48375" y="2937510"/>
            <a:ext cx="2896158" cy="1112226"/>
          </a:xfrm>
          <a:prstGeom prst="rect">
            <a:avLst/>
          </a:prstGeom>
          <a:noFill/>
        </p:spPr>
        <p:txBody>
          <a:bodyPr wrap="square" lIns="0" tIns="0" rIns="0" bIns="0" anchor="ctr">
            <a:spAutoFit/>
          </a:bodyPr>
          <a:lstStyle/>
          <a:p>
            <a:pPr algn="ctr">
              <a:spcAft>
                <a:spcPts val="400"/>
              </a:spcAft>
            </a:pPr>
            <a:r>
              <a:rPr sz="1500" b="0" i="0">
                <a:solidFill>
                  <a:srgbClr val="1C1C1C"/>
                </a:solidFill>
                <a:latin typeface="Cambria"/>
              </a:rPr>
              <a:t>min ‖X − XB‖² + λ‖B‖²</a:t>
            </a:r>
          </a:p>
          <a:p>
            <a:pPr algn="ctr">
              <a:spcAft>
                <a:spcPts val="0"/>
              </a:spcAft>
            </a:pPr>
            <a:r>
              <a:rPr sz="1300" b="0" i="0">
                <a:solidFill>
                  <a:srgbClr val="5F636B"/>
                </a:solidFill>
                <a:latin typeface="Arial"/>
              </a:rPr>
              <a:t>ràng buộc diag(B) = 0</a:t>
            </a:r>
          </a:p>
        </p:txBody>
      </p:sp>
      <p:sp>
        <p:nvSpPr>
          <p:cNvPr id="23" name="TextBox 22"/>
          <p:cNvSpPr txBox="1"/>
          <p:nvPr/>
        </p:nvSpPr>
        <p:spPr>
          <a:xfrm>
            <a:off x="8448375" y="4243167"/>
            <a:ext cx="2957779" cy="1160584"/>
          </a:xfrm>
          <a:prstGeom prst="rect">
            <a:avLst/>
          </a:prstGeom>
          <a:noFill/>
        </p:spPr>
        <p:txBody>
          <a:bodyPr wrap="square" lIns="0" tIns="0" rIns="0" bIns="0" anchor="t">
            <a:spAutoFit/>
          </a:bodyPr>
          <a:lstStyle/>
          <a:p>
            <a:pPr algn="l">
              <a:spcAft>
                <a:spcPts val="200"/>
              </a:spcAft>
            </a:pPr>
            <a:r>
              <a:rPr sz="1300" b="1" i="0">
                <a:solidFill>
                  <a:srgbClr val="003366"/>
                </a:solidFill>
                <a:latin typeface="Arial"/>
              </a:rPr>
              <a:t>Điểm mạnh</a:t>
            </a:r>
          </a:p>
          <a:p>
            <a:pPr algn="l">
              <a:spcAft>
                <a:spcPts val="200"/>
              </a:spcAft>
            </a:pPr>
            <a:r>
              <a:rPr sz="1500" b="0" i="0">
                <a:solidFill>
                  <a:srgbClr val="1C1C1C"/>
                </a:solidFill>
                <a:latin typeface="Arial"/>
              </a:rPr>
              <a:t>Có nghiệm đóng, khớp trực tiếp mục tiêu top-N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Bước 3–4 · Content-based và Hybrid</a:t>
            </a:r>
          </a:p>
        </p:txBody>
      </p:sp>
      <p:sp>
        <p:nvSpPr>
          <p:cNvPr id="3" name="Rounded Rectangle 2"/>
          <p:cNvSpPr/>
          <p:nvPr/>
        </p:nvSpPr>
        <p:spPr>
          <a:xfrm>
            <a:off x="548640" y="1148275"/>
            <a:ext cx="5422595" cy="4303834"/>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6742" y="1293348"/>
            <a:ext cx="4929632" cy="435219"/>
          </a:xfrm>
          <a:prstGeom prst="rect">
            <a:avLst/>
          </a:prstGeom>
          <a:noFill/>
        </p:spPr>
        <p:txBody>
          <a:bodyPr wrap="square" lIns="0" tIns="0" rIns="0" bIns="0" anchor="t">
            <a:spAutoFit/>
          </a:bodyPr>
          <a:lstStyle/>
          <a:p>
            <a:pPr algn="l">
              <a:spcAft>
                <a:spcPts val="600"/>
              </a:spcAft>
            </a:pPr>
            <a:r>
              <a:rPr sz="2000" b="1" i="0">
                <a:solidFill>
                  <a:srgbClr val="1C1C1C"/>
                </a:solidFill>
                <a:latin typeface="Arial"/>
              </a:rPr>
              <a:t>Content-based [6]</a:t>
            </a:r>
          </a:p>
        </p:txBody>
      </p:sp>
      <p:sp>
        <p:nvSpPr>
          <p:cNvPr id="5" name="TextBox 4"/>
          <p:cNvSpPr txBox="1"/>
          <p:nvPr/>
        </p:nvSpPr>
        <p:spPr>
          <a:xfrm>
            <a:off x="856742" y="1776925"/>
            <a:ext cx="4929632" cy="338503"/>
          </a:xfrm>
          <a:prstGeom prst="rect">
            <a:avLst/>
          </a:prstGeom>
          <a:noFill/>
        </p:spPr>
        <p:txBody>
          <a:bodyPr wrap="square" lIns="0" tIns="0" rIns="0" bIns="0" anchor="t">
            <a:spAutoFit/>
          </a:bodyPr>
          <a:lstStyle/>
          <a:p>
            <a:pPr algn="l">
              <a:spcAft>
                <a:spcPts val="600"/>
              </a:spcAft>
            </a:pPr>
            <a:r>
              <a:rPr sz="1400" b="0" i="0">
                <a:solidFill>
                  <a:srgbClr val="5F636B"/>
                </a:solidFill>
                <a:latin typeface="Arial"/>
              </a:rPr>
              <a:t>Vector TF-IDF của phim, theo trọng số</a:t>
            </a:r>
          </a:p>
        </p:txBody>
      </p:sp>
      <p:sp>
        <p:nvSpPr>
          <p:cNvPr id="6" name="TextBox 5"/>
          <p:cNvSpPr txBox="1"/>
          <p:nvPr/>
        </p:nvSpPr>
        <p:spPr>
          <a:xfrm>
            <a:off x="856742" y="2212144"/>
            <a:ext cx="1417269" cy="367518"/>
          </a:xfrm>
          <a:prstGeom prst="rect">
            <a:avLst/>
          </a:prstGeom>
          <a:noFill/>
        </p:spPr>
        <p:txBody>
          <a:bodyPr wrap="square" lIns="0" tIns="0" rIns="0" bIns="0" anchor="ctr">
            <a:spAutoFit/>
          </a:bodyPr>
          <a:lstStyle/>
          <a:p>
            <a:pPr algn="l">
              <a:spcAft>
                <a:spcPts val="600"/>
              </a:spcAft>
            </a:pPr>
            <a:r>
              <a:rPr sz="1500" b="0" i="0">
                <a:solidFill>
                  <a:srgbClr val="1C1C1C"/>
                </a:solidFill>
                <a:latin typeface="Arial"/>
              </a:rPr>
              <a:t>Thể loại</a:t>
            </a:r>
          </a:p>
        </p:txBody>
      </p:sp>
      <p:sp>
        <p:nvSpPr>
          <p:cNvPr id="7" name="Rectangle 6"/>
          <p:cNvSpPr/>
          <p:nvPr/>
        </p:nvSpPr>
        <p:spPr>
          <a:xfrm>
            <a:off x="2335631" y="2270173"/>
            <a:ext cx="2834538" cy="2514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68762" y="2212144"/>
            <a:ext cx="739444" cy="367518"/>
          </a:xfrm>
          <a:prstGeom prst="rect">
            <a:avLst/>
          </a:prstGeom>
          <a:noFill/>
        </p:spPr>
        <p:txBody>
          <a:bodyPr wrap="square" lIns="0" tIns="0" rIns="0" bIns="0" anchor="ctr">
            <a:spAutoFit/>
          </a:bodyPr>
          <a:lstStyle/>
          <a:p>
            <a:pPr algn="l">
              <a:spcAft>
                <a:spcPts val="600"/>
              </a:spcAft>
            </a:pPr>
            <a:r>
              <a:rPr sz="1400" b="1" i="0">
                <a:solidFill>
                  <a:srgbClr val="1C1C1C"/>
                </a:solidFill>
                <a:latin typeface="Arial"/>
              </a:rPr>
              <a:t>1.0</a:t>
            </a:r>
          </a:p>
        </p:txBody>
      </p:sp>
      <p:sp>
        <p:nvSpPr>
          <p:cNvPr id="9" name="TextBox 8"/>
          <p:cNvSpPr txBox="1"/>
          <p:nvPr/>
        </p:nvSpPr>
        <p:spPr>
          <a:xfrm>
            <a:off x="856742" y="2695721"/>
            <a:ext cx="1417269" cy="367518"/>
          </a:xfrm>
          <a:prstGeom prst="rect">
            <a:avLst/>
          </a:prstGeom>
          <a:noFill/>
        </p:spPr>
        <p:txBody>
          <a:bodyPr wrap="square" lIns="0" tIns="0" rIns="0" bIns="0" anchor="ctr">
            <a:spAutoFit/>
          </a:bodyPr>
          <a:lstStyle/>
          <a:p>
            <a:pPr algn="l">
              <a:spcAft>
                <a:spcPts val="600"/>
              </a:spcAft>
            </a:pPr>
            <a:r>
              <a:rPr sz="1500" b="0" i="0">
                <a:solidFill>
                  <a:srgbClr val="1C1C1C"/>
                </a:solidFill>
                <a:latin typeface="Arial"/>
              </a:rPr>
              <a:t>Tag</a:t>
            </a:r>
          </a:p>
        </p:txBody>
      </p:sp>
      <p:sp>
        <p:nvSpPr>
          <p:cNvPr id="10" name="Rectangle 9"/>
          <p:cNvSpPr/>
          <p:nvPr/>
        </p:nvSpPr>
        <p:spPr>
          <a:xfrm>
            <a:off x="2335631" y="2753750"/>
            <a:ext cx="1700723" cy="2514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34947" y="2695721"/>
            <a:ext cx="739444" cy="367518"/>
          </a:xfrm>
          <a:prstGeom prst="rect">
            <a:avLst/>
          </a:prstGeom>
          <a:noFill/>
        </p:spPr>
        <p:txBody>
          <a:bodyPr wrap="square" lIns="0" tIns="0" rIns="0" bIns="0" anchor="ctr">
            <a:spAutoFit/>
          </a:bodyPr>
          <a:lstStyle/>
          <a:p>
            <a:pPr algn="l">
              <a:spcAft>
                <a:spcPts val="600"/>
              </a:spcAft>
            </a:pPr>
            <a:r>
              <a:rPr sz="1400" b="1" i="0">
                <a:solidFill>
                  <a:srgbClr val="1C1C1C"/>
                </a:solidFill>
                <a:latin typeface="Arial"/>
              </a:rPr>
              <a:t>0.6</a:t>
            </a:r>
          </a:p>
        </p:txBody>
      </p:sp>
      <p:sp>
        <p:nvSpPr>
          <p:cNvPr id="12" name="TextBox 11"/>
          <p:cNvSpPr txBox="1"/>
          <p:nvPr/>
        </p:nvSpPr>
        <p:spPr>
          <a:xfrm>
            <a:off x="856742" y="3179298"/>
            <a:ext cx="1417269" cy="367518"/>
          </a:xfrm>
          <a:prstGeom prst="rect">
            <a:avLst/>
          </a:prstGeom>
          <a:noFill/>
        </p:spPr>
        <p:txBody>
          <a:bodyPr wrap="square" lIns="0" tIns="0" rIns="0" bIns="0" anchor="ctr">
            <a:spAutoFit/>
          </a:bodyPr>
          <a:lstStyle/>
          <a:p>
            <a:pPr algn="l">
              <a:spcAft>
                <a:spcPts val="600"/>
              </a:spcAft>
            </a:pPr>
            <a:r>
              <a:rPr sz="1500" b="0" i="0">
                <a:solidFill>
                  <a:srgbClr val="1C1C1C"/>
                </a:solidFill>
                <a:latin typeface="Arial"/>
              </a:rPr>
              <a:t>Thập niên</a:t>
            </a:r>
          </a:p>
        </p:txBody>
      </p:sp>
      <p:sp>
        <p:nvSpPr>
          <p:cNvPr id="13" name="Rectangle 12"/>
          <p:cNvSpPr/>
          <p:nvPr/>
        </p:nvSpPr>
        <p:spPr>
          <a:xfrm>
            <a:off x="2335631" y="3237327"/>
            <a:ext cx="850361" cy="251460"/>
          </a:xfrm>
          <a:prstGeom prst="rect">
            <a:avLst/>
          </a:prstGeom>
          <a:solidFill>
            <a:srgbClr val="879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84585" y="3179298"/>
            <a:ext cx="739444" cy="367518"/>
          </a:xfrm>
          <a:prstGeom prst="rect">
            <a:avLst/>
          </a:prstGeom>
          <a:noFill/>
        </p:spPr>
        <p:txBody>
          <a:bodyPr wrap="square" lIns="0" tIns="0" rIns="0" bIns="0" anchor="ctr">
            <a:spAutoFit/>
          </a:bodyPr>
          <a:lstStyle/>
          <a:p>
            <a:pPr algn="l">
              <a:spcAft>
                <a:spcPts val="600"/>
              </a:spcAft>
            </a:pPr>
            <a:r>
              <a:rPr sz="1400" b="1" i="0">
                <a:solidFill>
                  <a:srgbClr val="1C1C1C"/>
                </a:solidFill>
                <a:latin typeface="Arial"/>
              </a:rPr>
              <a:t>0.3</a:t>
            </a:r>
          </a:p>
        </p:txBody>
      </p:sp>
      <p:sp>
        <p:nvSpPr>
          <p:cNvPr id="15" name="TextBox 14"/>
          <p:cNvSpPr txBox="1"/>
          <p:nvPr/>
        </p:nvSpPr>
        <p:spPr>
          <a:xfrm>
            <a:off x="856742" y="3759590"/>
            <a:ext cx="4929632" cy="2031023"/>
          </a:xfrm>
          <a:prstGeom prst="rect">
            <a:avLst/>
          </a:prstGeom>
          <a:noFill/>
        </p:spPr>
        <p:txBody>
          <a:bodyPr wrap="square" lIns="0" tIns="0" rIns="0" bIns="0" anchor="t">
            <a:spAutoFit/>
          </a:bodyPr>
          <a:lstStyle/>
          <a:p>
            <a:pPr algn="l">
              <a:spcAft>
                <a:spcPts val="600"/>
              </a:spcAft>
            </a:pPr>
            <a:r>
              <a:rPr sz="1600" b="0" i="0">
                <a:solidFill>
                  <a:srgbClr val="1C1C1C"/>
                </a:solidFill>
                <a:latin typeface="Cambria"/>
              </a:rPr>
              <a:t>Profile = Σ (rᵤᵢ − r̄ᵤ) · xᵢ</a:t>
            </a:r>
          </a:p>
          <a:p>
            <a:pPr marL="228600" indent="-228600" algn="l">
              <a:spcAft>
                <a:spcPts val="400"/>
              </a:spcAft>
              <a:buClr>
                <a:srgbClr val="003366"/>
              </a:buClr>
              <a:buFont typeface="Arial"/>
              <a:buChar char="▪"/>
            </a:pPr>
            <a:r>
              <a:rPr sz="1500" b="0" i="0">
                <a:solidFill>
                  <a:srgbClr val="1C1C1C"/>
                </a:solidFill>
                <a:latin typeface="Arial"/>
              </a:rPr>
              <a:t>Điểm = cosine(profile, phim)</a:t>
            </a:r>
          </a:p>
          <a:p>
            <a:pPr marL="228600" indent="-228600" algn="l">
              <a:spcAft>
                <a:spcPts val="400"/>
              </a:spcAft>
              <a:buClr>
                <a:srgbClr val="003366"/>
              </a:buClr>
              <a:buFont typeface="Arial"/>
              <a:buChar char="▪"/>
            </a:pPr>
            <a:r>
              <a:rPr sz="1500" b="1" i="0">
                <a:solidFill>
                  <a:srgbClr val="1C1C1C"/>
                </a:solidFill>
                <a:latin typeface="Arial"/>
              </a:rPr>
              <a:t>Ưu: </a:t>
            </a:r>
            <a:r>
              <a:rPr sz="1500" b="0" i="0">
                <a:solidFill>
                  <a:srgbClr val="1C1C1C"/>
                </a:solidFill>
                <a:latin typeface="Arial"/>
              </a:rPr>
              <a:t>gợi ý được phim mới, ít rating</a:t>
            </a:r>
          </a:p>
          <a:p>
            <a:pPr marL="228600" indent="-228600" algn="l">
              <a:spcAft>
                <a:spcPts val="400"/>
              </a:spcAft>
              <a:buClr>
                <a:srgbClr val="003366"/>
              </a:buClr>
              <a:buFont typeface="Arial"/>
              <a:buChar char="▪"/>
            </a:pPr>
            <a:r>
              <a:rPr sz="1500" b="1" i="0">
                <a:solidFill>
                  <a:srgbClr val="1C1C1C"/>
                </a:solidFill>
                <a:latin typeface="Arial"/>
              </a:rPr>
              <a:t>Nhược: </a:t>
            </a:r>
            <a:r>
              <a:rPr sz="1500" b="0" i="0">
                <a:solidFill>
                  <a:srgbClr val="1C1C1C"/>
                </a:solidFill>
                <a:latin typeface="Arial"/>
              </a:rPr>
              <a:t>chỉ biết “giống”, không biết “hay”</a:t>
            </a:r>
          </a:p>
        </p:txBody>
      </p:sp>
      <p:sp>
        <p:nvSpPr>
          <p:cNvPr id="16" name="Rounded Rectangle 15"/>
          <p:cNvSpPr/>
          <p:nvPr/>
        </p:nvSpPr>
        <p:spPr>
          <a:xfrm>
            <a:off x="6217716" y="1148275"/>
            <a:ext cx="5422595" cy="4303834"/>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25818" y="1293348"/>
            <a:ext cx="4929632" cy="435219"/>
          </a:xfrm>
          <a:prstGeom prst="rect">
            <a:avLst/>
          </a:prstGeom>
          <a:noFill/>
        </p:spPr>
        <p:txBody>
          <a:bodyPr wrap="square" lIns="0" tIns="0" rIns="0" bIns="0" anchor="t">
            <a:spAutoFit/>
          </a:bodyPr>
          <a:lstStyle/>
          <a:p>
            <a:pPr algn="l">
              <a:spcAft>
                <a:spcPts val="600"/>
              </a:spcAft>
            </a:pPr>
            <a:r>
              <a:rPr sz="2000" b="1" i="0">
                <a:solidFill>
                  <a:srgbClr val="1C1C1C"/>
                </a:solidFill>
                <a:latin typeface="Arial"/>
              </a:rPr>
              <a:t>Hybrid</a:t>
            </a:r>
          </a:p>
        </p:txBody>
      </p:sp>
      <p:sp>
        <p:nvSpPr>
          <p:cNvPr id="18" name="TextBox 17"/>
          <p:cNvSpPr txBox="1"/>
          <p:nvPr/>
        </p:nvSpPr>
        <p:spPr>
          <a:xfrm>
            <a:off x="6525818" y="1776925"/>
            <a:ext cx="4929632" cy="338503"/>
          </a:xfrm>
          <a:prstGeom prst="rect">
            <a:avLst/>
          </a:prstGeom>
          <a:noFill/>
        </p:spPr>
        <p:txBody>
          <a:bodyPr wrap="square" lIns="0" tIns="0" rIns="0" bIns="0" anchor="t">
            <a:spAutoFit/>
          </a:bodyPr>
          <a:lstStyle/>
          <a:p>
            <a:pPr algn="l">
              <a:spcAft>
                <a:spcPts val="600"/>
              </a:spcAft>
            </a:pPr>
            <a:r>
              <a:rPr sz="1400" b="0" i="0">
                <a:solidFill>
                  <a:srgbClr val="5F636B"/>
                </a:solidFill>
                <a:latin typeface="Arial"/>
              </a:rPr>
              <a:t>Kết hợp tuyến tính điểm đã chuẩn hoá</a:t>
            </a:r>
          </a:p>
        </p:txBody>
      </p:sp>
      <p:sp>
        <p:nvSpPr>
          <p:cNvPr id="19" name="Rounded Rectangle 18"/>
          <p:cNvSpPr/>
          <p:nvPr/>
        </p:nvSpPr>
        <p:spPr>
          <a:xfrm>
            <a:off x="6525818" y="2212144"/>
            <a:ext cx="4806391" cy="87043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49059" y="2212144"/>
            <a:ext cx="4559909" cy="870438"/>
          </a:xfrm>
          <a:prstGeom prst="rect">
            <a:avLst/>
          </a:prstGeom>
          <a:noFill/>
        </p:spPr>
        <p:txBody>
          <a:bodyPr wrap="square" lIns="0" tIns="0" rIns="0" bIns="0" anchor="ctr">
            <a:spAutoFit/>
          </a:bodyPr>
          <a:lstStyle/>
          <a:p>
            <a:pPr algn="ctr">
              <a:spcAft>
                <a:spcPts val="0"/>
              </a:spcAft>
            </a:pPr>
            <a:r>
              <a:rPr sz="1600" b="0" i="0">
                <a:solidFill>
                  <a:srgbClr val="1C1C1C"/>
                </a:solidFill>
                <a:latin typeface="Cambria"/>
              </a:rPr>
              <a:t>score = w · z(CF) + (1 − w) · z(Content)</a:t>
            </a:r>
          </a:p>
        </p:txBody>
      </p:sp>
      <p:sp>
        <p:nvSpPr>
          <p:cNvPr id="21" name="TextBox 20"/>
          <p:cNvSpPr txBox="1"/>
          <p:nvPr/>
        </p:nvSpPr>
        <p:spPr>
          <a:xfrm>
            <a:off x="6525818" y="3324371"/>
            <a:ext cx="4929632" cy="2417884"/>
          </a:xfrm>
          <a:prstGeom prst="rect">
            <a:avLst/>
          </a:prstGeom>
          <a:noFill/>
        </p:spPr>
        <p:txBody>
          <a:bodyPr wrap="square" lIns="0" tIns="0" rIns="0" bIns="0" anchor="t">
            <a:spAutoFit/>
          </a:bodyPr>
          <a:lstStyle/>
          <a:p>
            <a:pPr marL="228600" indent="-228600" algn="l">
              <a:spcAft>
                <a:spcPts val="800"/>
              </a:spcAft>
              <a:buClr>
                <a:srgbClr val="003366"/>
              </a:buClr>
              <a:buFont typeface="Arial"/>
              <a:buChar char="▪"/>
            </a:pPr>
            <a:r>
              <a:rPr sz="1500" b="0" i="0">
                <a:solidFill>
                  <a:srgbClr val="1C1C1C"/>
                </a:solidFill>
                <a:latin typeface="Arial"/>
              </a:rPr>
              <a:t>z(·): chuẩn hoá z-score trên toàn bộ phim</a:t>
            </a:r>
          </a:p>
          <a:p>
            <a:pPr marL="228600" indent="-228600" algn="l">
              <a:spcAft>
                <a:spcPts val="800"/>
              </a:spcAft>
              <a:buClr>
                <a:srgbClr val="003366"/>
              </a:buClr>
              <a:buFont typeface="Arial"/>
              <a:buChar char="▪"/>
            </a:pPr>
            <a:r>
              <a:rPr sz="1500" b="0" i="0">
                <a:solidFill>
                  <a:srgbClr val="1C1C1C"/>
                </a:solidFill>
                <a:latin typeface="Arial"/>
              </a:rPr>
              <a:t>w chọn trên tập validation</a:t>
            </a:r>
          </a:p>
          <a:p>
            <a:pPr marL="228600" indent="-228600" algn="l">
              <a:spcAft>
                <a:spcPts val="800"/>
              </a:spcAft>
              <a:buClr>
                <a:srgbClr val="003366"/>
              </a:buClr>
              <a:buFont typeface="Arial"/>
              <a:buChar char="▪"/>
            </a:pPr>
            <a:r>
              <a:rPr sz="1500" b="0" i="0">
                <a:solidFill>
                  <a:srgbClr val="1C1C1C"/>
                </a:solidFill>
                <a:latin typeface="Arial"/>
              </a:rPr>
              <a:t>Lấy độ chính xác của CF, cộng khả năng phủ phim mới và đa dạng của content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Kế hoạch đánh giá</a:t>
            </a:r>
          </a:p>
        </p:txBody>
      </p:sp>
      <p:sp>
        <p:nvSpPr>
          <p:cNvPr id="3" name="TextBox 2"/>
          <p:cNvSpPr txBox="1"/>
          <p:nvPr/>
        </p:nvSpPr>
        <p:spPr>
          <a:xfrm>
            <a:off x="548640" y="1051560"/>
            <a:ext cx="11091672" cy="386861"/>
          </a:xfrm>
          <a:prstGeom prst="rect">
            <a:avLst/>
          </a:prstGeom>
          <a:noFill/>
        </p:spPr>
        <p:txBody>
          <a:bodyPr wrap="square" lIns="0" tIns="0" rIns="0" bIns="0" anchor="t">
            <a:spAutoFit/>
          </a:bodyPr>
          <a:lstStyle/>
          <a:p>
            <a:pPr algn="l">
              <a:spcAft>
                <a:spcPts val="600"/>
              </a:spcAft>
            </a:pPr>
            <a:r>
              <a:rPr sz="1800" b="1" i="0">
                <a:solidFill>
                  <a:srgbClr val="1C1C1C"/>
                </a:solidFill>
                <a:latin typeface="Arial"/>
              </a:rPr>
              <a:t>Chia dữ liệu theo thời gian, cho từng người dùng</a:t>
            </a:r>
          </a:p>
        </p:txBody>
      </p:sp>
      <p:sp>
        <p:nvSpPr>
          <p:cNvPr id="4" name="Rectangle 3"/>
          <p:cNvSpPr/>
          <p:nvPr/>
        </p:nvSpPr>
        <p:spPr>
          <a:xfrm>
            <a:off x="548640" y="1535136"/>
            <a:ext cx="8873337" cy="599635"/>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535136"/>
            <a:ext cx="8873337" cy="599635"/>
          </a:xfrm>
          <a:prstGeom prst="rect">
            <a:avLst/>
          </a:prstGeom>
          <a:noFill/>
        </p:spPr>
        <p:txBody>
          <a:bodyPr wrap="square" lIns="0" tIns="0" rIns="0" bIns="0" anchor="ctr">
            <a:spAutoFit/>
          </a:bodyPr>
          <a:lstStyle/>
          <a:p>
            <a:pPr algn="ctr">
              <a:spcAft>
                <a:spcPts val="0"/>
              </a:spcAft>
            </a:pPr>
            <a:r>
              <a:rPr sz="1600" b="1" i="0">
                <a:solidFill>
                  <a:srgbClr val="FFFFFF"/>
                </a:solidFill>
                <a:latin typeface="Arial"/>
              </a:rPr>
              <a:t>Train · 80% lượt rating cũ nhất</a:t>
            </a:r>
          </a:p>
        </p:txBody>
      </p:sp>
      <p:sp>
        <p:nvSpPr>
          <p:cNvPr id="6" name="Rectangle 5"/>
          <p:cNvSpPr/>
          <p:nvPr/>
        </p:nvSpPr>
        <p:spPr>
          <a:xfrm>
            <a:off x="9421977" y="1535136"/>
            <a:ext cx="2218334" cy="599635"/>
          </a:xfrm>
          <a:prstGeom prst="rect">
            <a:avLst/>
          </a:prstGeom>
          <a:solidFill>
            <a:srgbClr val="879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21977" y="1535136"/>
            <a:ext cx="2218334" cy="599635"/>
          </a:xfrm>
          <a:prstGeom prst="rect">
            <a:avLst/>
          </a:prstGeom>
          <a:noFill/>
        </p:spPr>
        <p:txBody>
          <a:bodyPr wrap="square" lIns="0" tIns="0" rIns="0" bIns="0" anchor="ctr">
            <a:spAutoFit/>
          </a:bodyPr>
          <a:lstStyle/>
          <a:p>
            <a:pPr algn="ctr">
              <a:spcAft>
                <a:spcPts val="0"/>
              </a:spcAft>
            </a:pPr>
            <a:r>
              <a:rPr sz="1600" b="1" i="0">
                <a:solidFill>
                  <a:srgbClr val="FFFFFF"/>
                </a:solidFill>
                <a:latin typeface="Arial"/>
              </a:rPr>
              <a:t>Test · 20%</a:t>
            </a:r>
          </a:p>
        </p:txBody>
      </p:sp>
      <p:sp>
        <p:nvSpPr>
          <p:cNvPr id="8" name="Right Arrow 7"/>
          <p:cNvSpPr/>
          <p:nvPr/>
        </p:nvSpPr>
        <p:spPr>
          <a:xfrm>
            <a:off x="548640" y="2241159"/>
            <a:ext cx="11091672" cy="193430"/>
          </a:xfrm>
          <a:prstGeom prst="rightArrow">
            <a:avLst/>
          </a:prstGeom>
          <a:solidFill>
            <a:srgbClr val="C6C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61422" y="2434590"/>
            <a:ext cx="1478889" cy="290146"/>
          </a:xfrm>
          <a:prstGeom prst="rect">
            <a:avLst/>
          </a:prstGeom>
          <a:noFill/>
        </p:spPr>
        <p:txBody>
          <a:bodyPr wrap="square" lIns="0" tIns="0" rIns="0" bIns="0" anchor="t">
            <a:spAutoFit/>
          </a:bodyPr>
          <a:lstStyle/>
          <a:p>
            <a:pPr algn="r">
              <a:spcAft>
                <a:spcPts val="600"/>
              </a:spcAft>
            </a:pPr>
            <a:r>
              <a:rPr sz="1300" b="0" i="1">
                <a:solidFill>
                  <a:srgbClr val="5F636B"/>
                </a:solidFill>
                <a:latin typeface="Arial"/>
              </a:rPr>
              <a:t>thời gian</a:t>
            </a:r>
          </a:p>
        </p:txBody>
      </p:sp>
      <p:sp>
        <p:nvSpPr>
          <p:cNvPr id="10" name="TextBox 9"/>
          <p:cNvSpPr txBox="1"/>
          <p:nvPr/>
        </p:nvSpPr>
        <p:spPr>
          <a:xfrm>
            <a:off x="548640" y="2502290"/>
            <a:ext cx="9366300" cy="1160584"/>
          </a:xfrm>
          <a:prstGeom prst="rect">
            <a:avLst/>
          </a:prstGeom>
          <a:noFill/>
        </p:spPr>
        <p:txBody>
          <a:bodyPr wrap="square" lIns="0" tIns="0" rIns="0" bIns="0" anchor="t">
            <a:spAutoFit/>
          </a:bodyPr>
          <a:lstStyle/>
          <a:p>
            <a:pPr marL="228600" indent="-228600" algn="l">
              <a:spcAft>
                <a:spcPts val="300"/>
              </a:spcAft>
              <a:buClr>
                <a:srgbClr val="003366"/>
              </a:buClr>
              <a:buFont typeface="Arial"/>
              <a:buChar char="▪"/>
            </a:pPr>
            <a:r>
              <a:rPr sz="1500" b="0" i="0">
                <a:solidFill>
                  <a:srgbClr val="1C1C1C"/>
                </a:solidFill>
                <a:latin typeface="Arial"/>
              </a:rPr>
              <a:t>Không dùng tương lai để đoán quá khứ, sát với tình huống thực tế</a:t>
            </a:r>
          </a:p>
          <a:p>
            <a:pPr marL="228600" indent="-228600" algn="l">
              <a:spcAft>
                <a:spcPts val="300"/>
              </a:spcAft>
              <a:buClr>
                <a:srgbClr val="003366"/>
              </a:buClr>
              <a:buFont typeface="Arial"/>
              <a:buChar char="▪"/>
            </a:pPr>
            <a:r>
              <a:rPr sz="1500" b="0" i="0">
                <a:solidFill>
                  <a:srgbClr val="1C1C1C"/>
                </a:solidFill>
                <a:latin typeface="Arial"/>
              </a:rPr>
              <a:t>Phim được chấm ≥ 4★ ở tập test được coi là </a:t>
            </a:r>
            <a:r>
              <a:rPr sz="1500" b="1" i="0">
                <a:solidFill>
                  <a:srgbClr val="1C1C1C"/>
                </a:solidFill>
                <a:latin typeface="Arial"/>
              </a:rPr>
              <a:t>phù hợp</a:t>
            </a:r>
          </a:p>
          <a:p>
            <a:pPr marL="228600" indent="-228600" algn="l">
              <a:spcAft>
                <a:spcPts val="300"/>
              </a:spcAft>
              <a:buClr>
                <a:srgbClr val="003366"/>
              </a:buClr>
              <a:buFont typeface="Arial"/>
              <a:buChar char="▪"/>
            </a:pPr>
            <a:r>
              <a:rPr sz="1500" b="0" i="0">
                <a:solidFill>
                  <a:srgbClr val="1C1C1C"/>
                </a:solidFill>
                <a:latin typeface="Arial"/>
              </a:rPr>
              <a:t>Tách tiếp tập validation từ train để chọn siêu tham số</a:t>
            </a:r>
          </a:p>
        </p:txBody>
      </p:sp>
      <p:sp>
        <p:nvSpPr>
          <p:cNvPr id="11" name="Rounded Rectangle 10"/>
          <p:cNvSpPr/>
          <p:nvPr/>
        </p:nvSpPr>
        <p:spPr>
          <a:xfrm>
            <a:off x="548640" y="3759590"/>
            <a:ext cx="3512362" cy="1740876"/>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6742" y="3875649"/>
            <a:ext cx="2957779" cy="1547446"/>
          </a:xfrm>
          <a:prstGeom prst="rect">
            <a:avLst/>
          </a:prstGeom>
          <a:noFill/>
        </p:spPr>
        <p:txBody>
          <a:bodyPr wrap="square" lIns="0" tIns="0" rIns="0" bIns="0" anchor="t">
            <a:spAutoFit/>
          </a:bodyPr>
          <a:lstStyle/>
          <a:p>
            <a:pPr algn="l">
              <a:spcAft>
                <a:spcPts val="600"/>
              </a:spcAft>
            </a:pPr>
            <a:r>
              <a:rPr sz="1800" b="1" i="0">
                <a:solidFill>
                  <a:srgbClr val="003366"/>
                </a:solidFill>
                <a:latin typeface="Arial"/>
              </a:rPr>
              <a:t>Dự đoán điểm</a:t>
            </a:r>
          </a:p>
          <a:p>
            <a:pPr marL="228600" indent="-228600" algn="l">
              <a:spcAft>
                <a:spcPts val="300"/>
              </a:spcAft>
              <a:buClr>
                <a:srgbClr val="003366"/>
              </a:buClr>
              <a:buFont typeface="Arial"/>
              <a:buChar char="▪"/>
            </a:pPr>
            <a:r>
              <a:rPr sz="1500" b="0" i="0">
                <a:solidFill>
                  <a:srgbClr val="1C1C1C"/>
                </a:solidFill>
                <a:latin typeface="Arial"/>
              </a:rPr>
              <a:t>RMSE</a:t>
            </a:r>
          </a:p>
          <a:p>
            <a:pPr marL="228600" indent="-228600" algn="l">
              <a:spcAft>
                <a:spcPts val="300"/>
              </a:spcAft>
              <a:buClr>
                <a:srgbClr val="003366"/>
              </a:buClr>
              <a:buFont typeface="Arial"/>
              <a:buChar char="▪"/>
            </a:pPr>
            <a:r>
              <a:rPr sz="1500" b="0" i="0">
                <a:solidFill>
                  <a:srgbClr val="1C1C1C"/>
                </a:solidFill>
                <a:latin typeface="Arial"/>
              </a:rPr>
              <a:t>MAE</a:t>
            </a:r>
          </a:p>
        </p:txBody>
      </p:sp>
      <p:sp>
        <p:nvSpPr>
          <p:cNvPr id="13" name="Rounded Rectangle 12"/>
          <p:cNvSpPr/>
          <p:nvPr/>
        </p:nvSpPr>
        <p:spPr>
          <a:xfrm>
            <a:off x="4344456" y="3759590"/>
            <a:ext cx="3512362" cy="1740876"/>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2558" y="3875649"/>
            <a:ext cx="2957779" cy="1547446"/>
          </a:xfrm>
          <a:prstGeom prst="rect">
            <a:avLst/>
          </a:prstGeom>
          <a:noFill/>
        </p:spPr>
        <p:txBody>
          <a:bodyPr wrap="square" lIns="0" tIns="0" rIns="0" bIns="0" anchor="t">
            <a:spAutoFit/>
          </a:bodyPr>
          <a:lstStyle/>
          <a:p>
            <a:pPr algn="l">
              <a:spcAft>
                <a:spcPts val="600"/>
              </a:spcAft>
            </a:pPr>
            <a:r>
              <a:rPr sz="1800" b="1" i="0">
                <a:solidFill>
                  <a:srgbClr val="003366"/>
                </a:solidFill>
                <a:latin typeface="Arial"/>
              </a:rPr>
              <a:t>Xếp hạng top-10</a:t>
            </a:r>
          </a:p>
          <a:p>
            <a:pPr marL="228600" indent="-228600" algn="l">
              <a:spcAft>
                <a:spcPts val="300"/>
              </a:spcAft>
              <a:buClr>
                <a:srgbClr val="003366"/>
              </a:buClr>
              <a:buFont typeface="Arial"/>
              <a:buChar char="▪"/>
            </a:pPr>
            <a:r>
              <a:rPr sz="1500" b="1" i="0">
                <a:solidFill>
                  <a:srgbClr val="1C1C1C"/>
                </a:solidFill>
                <a:latin typeface="Arial"/>
              </a:rPr>
              <a:t>NDCG@10 (chính)</a:t>
            </a:r>
          </a:p>
          <a:p>
            <a:pPr marL="228600" indent="-228600" algn="l">
              <a:spcAft>
                <a:spcPts val="300"/>
              </a:spcAft>
              <a:buClr>
                <a:srgbClr val="003366"/>
              </a:buClr>
              <a:buFont typeface="Arial"/>
              <a:buChar char="▪"/>
            </a:pPr>
            <a:r>
              <a:rPr sz="1500" b="0" i="0">
                <a:solidFill>
                  <a:srgbClr val="1C1C1C"/>
                </a:solidFill>
                <a:latin typeface="Arial"/>
              </a:rPr>
              <a:t>Precision, Recall</a:t>
            </a:r>
          </a:p>
          <a:p>
            <a:pPr marL="228600" indent="-228600" algn="l">
              <a:spcAft>
                <a:spcPts val="300"/>
              </a:spcAft>
              <a:buClr>
                <a:srgbClr val="003366"/>
              </a:buClr>
              <a:buFont typeface="Arial"/>
              <a:buChar char="▪"/>
            </a:pPr>
            <a:r>
              <a:rPr sz="1500" b="0" i="0">
                <a:solidFill>
                  <a:srgbClr val="1C1C1C"/>
                </a:solidFill>
                <a:latin typeface="Arial"/>
              </a:rPr>
              <a:t>HitRate</a:t>
            </a:r>
          </a:p>
        </p:txBody>
      </p:sp>
      <p:sp>
        <p:nvSpPr>
          <p:cNvPr id="15" name="Rounded Rectangle 14"/>
          <p:cNvSpPr/>
          <p:nvPr/>
        </p:nvSpPr>
        <p:spPr>
          <a:xfrm>
            <a:off x="8140273" y="3759590"/>
            <a:ext cx="3512362" cy="1740876"/>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48375" y="3875649"/>
            <a:ext cx="2957779" cy="1547446"/>
          </a:xfrm>
          <a:prstGeom prst="rect">
            <a:avLst/>
          </a:prstGeom>
          <a:noFill/>
        </p:spPr>
        <p:txBody>
          <a:bodyPr wrap="square" lIns="0" tIns="0" rIns="0" bIns="0" anchor="t">
            <a:spAutoFit/>
          </a:bodyPr>
          <a:lstStyle/>
          <a:p>
            <a:pPr algn="l">
              <a:spcAft>
                <a:spcPts val="600"/>
              </a:spcAft>
            </a:pPr>
            <a:r>
              <a:rPr sz="1800" b="1" i="0">
                <a:solidFill>
                  <a:srgbClr val="003366"/>
                </a:solidFill>
                <a:latin typeface="Arial"/>
              </a:rPr>
              <a:t>Mức hệ thống</a:t>
            </a:r>
          </a:p>
          <a:p>
            <a:pPr marL="228600" indent="-228600" algn="l">
              <a:spcAft>
                <a:spcPts val="300"/>
              </a:spcAft>
              <a:buClr>
                <a:srgbClr val="003366"/>
              </a:buClr>
              <a:buFont typeface="Arial"/>
              <a:buChar char="▪"/>
            </a:pPr>
            <a:r>
              <a:rPr sz="1500" b="0" i="0">
                <a:solidFill>
                  <a:srgbClr val="1C1C1C"/>
                </a:solidFill>
                <a:latin typeface="Arial"/>
              </a:rPr>
              <a:t>Coverage (đa dạng)</a:t>
            </a:r>
          </a:p>
          <a:p>
            <a:pPr marL="228600" indent="-228600" algn="l">
              <a:spcAft>
                <a:spcPts val="300"/>
              </a:spcAft>
              <a:buClr>
                <a:srgbClr val="003366"/>
              </a:buClr>
              <a:buFont typeface="Arial"/>
              <a:buChar char="▪"/>
            </a:pPr>
            <a:r>
              <a:rPr sz="1500" b="0" i="0">
                <a:solidFill>
                  <a:srgbClr val="1C1C1C"/>
                </a:solidFill>
                <a:latin typeface="Arial"/>
              </a:rPr>
              <a:t>Novelty (mới lạ)</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Kế hoạch thực hiện</a:t>
            </a:r>
          </a:p>
        </p:txBody>
      </p:sp>
      <p:sp>
        <p:nvSpPr>
          <p:cNvPr id="3" name="Rectangle 2"/>
          <p:cNvSpPr/>
          <p:nvPr/>
        </p:nvSpPr>
        <p:spPr>
          <a:xfrm>
            <a:off x="1596186" y="1651195"/>
            <a:ext cx="8996578" cy="58029"/>
          </a:xfrm>
          <a:prstGeom prst="rect">
            <a:avLst/>
          </a:prstGeom>
          <a:solidFill>
            <a:srgbClr val="C6C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2308860"/>
            <a:ext cx="2095093" cy="1934307"/>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86697" y="1370720"/>
            <a:ext cx="618978" cy="61897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200" b="1" i="0">
                <a:solidFill>
                  <a:srgbClr val="FFFFFF"/>
                </a:solidFill>
                <a:latin typeface="Arial"/>
              </a:rPr>
              <a:t>1</a:t>
            </a:r>
          </a:p>
        </p:txBody>
      </p:sp>
      <p:sp>
        <p:nvSpPr>
          <p:cNvPr id="6" name="TextBox 5"/>
          <p:cNvSpPr txBox="1"/>
          <p:nvPr/>
        </p:nvSpPr>
        <p:spPr>
          <a:xfrm>
            <a:off x="610260" y="2405575"/>
            <a:ext cx="1971852" cy="338503"/>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Tuần …</a:t>
            </a:r>
          </a:p>
        </p:txBody>
      </p:sp>
      <p:sp>
        <p:nvSpPr>
          <p:cNvPr id="7" name="TextBox 6"/>
          <p:cNvSpPr txBox="1"/>
          <p:nvPr/>
        </p:nvSpPr>
        <p:spPr>
          <a:xfrm>
            <a:off x="610260" y="2744079"/>
            <a:ext cx="1971852" cy="967153"/>
          </a:xfrm>
          <a:prstGeom prst="rect">
            <a:avLst/>
          </a:prstGeom>
          <a:noFill/>
        </p:spPr>
        <p:txBody>
          <a:bodyPr wrap="square" lIns="0" tIns="0" rIns="0" bIns="0" anchor="t">
            <a:spAutoFit/>
          </a:bodyPr>
          <a:lstStyle/>
          <a:p>
            <a:pPr algn="ctr">
              <a:spcAft>
                <a:spcPts val="600"/>
              </a:spcAft>
            </a:pPr>
            <a:r>
              <a:rPr sz="1500" b="1" i="0">
                <a:solidFill>
                  <a:srgbClr val="1C1C1C"/>
                </a:solidFill>
                <a:latin typeface="Arial"/>
              </a:rPr>
              <a:t>Đề xuất đề tài, khảo sát</a:t>
            </a:r>
          </a:p>
        </p:txBody>
      </p:sp>
      <p:sp>
        <p:nvSpPr>
          <p:cNvPr id="8" name="TextBox 7"/>
          <p:cNvSpPr txBox="1"/>
          <p:nvPr/>
        </p:nvSpPr>
        <p:spPr>
          <a:xfrm>
            <a:off x="610260" y="3759590"/>
            <a:ext cx="1971852" cy="386861"/>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[Thành viên]</a:t>
            </a:r>
          </a:p>
        </p:txBody>
      </p:sp>
      <p:sp>
        <p:nvSpPr>
          <p:cNvPr id="9" name="Rounded Rectangle 8"/>
          <p:cNvSpPr/>
          <p:nvPr/>
        </p:nvSpPr>
        <p:spPr>
          <a:xfrm>
            <a:off x="2797784" y="2308860"/>
            <a:ext cx="2095093" cy="1934307"/>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35842" y="1370720"/>
            <a:ext cx="618978" cy="61897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200" b="1" i="0">
                <a:solidFill>
                  <a:srgbClr val="FFFFFF"/>
                </a:solidFill>
                <a:latin typeface="Arial"/>
              </a:rPr>
              <a:t>2</a:t>
            </a:r>
          </a:p>
        </p:txBody>
      </p:sp>
      <p:sp>
        <p:nvSpPr>
          <p:cNvPr id="11" name="TextBox 10"/>
          <p:cNvSpPr txBox="1"/>
          <p:nvPr/>
        </p:nvSpPr>
        <p:spPr>
          <a:xfrm>
            <a:off x="2859405" y="2405575"/>
            <a:ext cx="1971852" cy="338503"/>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Tuần …</a:t>
            </a:r>
          </a:p>
        </p:txBody>
      </p:sp>
      <p:sp>
        <p:nvSpPr>
          <p:cNvPr id="12" name="TextBox 11"/>
          <p:cNvSpPr txBox="1"/>
          <p:nvPr/>
        </p:nvSpPr>
        <p:spPr>
          <a:xfrm>
            <a:off x="2859405" y="2744079"/>
            <a:ext cx="1971852" cy="967153"/>
          </a:xfrm>
          <a:prstGeom prst="rect">
            <a:avLst/>
          </a:prstGeom>
          <a:noFill/>
        </p:spPr>
        <p:txBody>
          <a:bodyPr wrap="square" lIns="0" tIns="0" rIns="0" bIns="0" anchor="t">
            <a:spAutoFit/>
          </a:bodyPr>
          <a:lstStyle/>
          <a:p>
            <a:pPr algn="ctr">
              <a:spcAft>
                <a:spcPts val="600"/>
              </a:spcAft>
            </a:pPr>
            <a:r>
              <a:rPr sz="1500" b="1" i="0">
                <a:solidFill>
                  <a:srgbClr val="1C1C1C"/>
                </a:solidFill>
                <a:latin typeface="Arial"/>
              </a:rPr>
              <a:t>Tiền xử lý dữ liệu, baseline</a:t>
            </a:r>
          </a:p>
        </p:txBody>
      </p:sp>
      <p:sp>
        <p:nvSpPr>
          <p:cNvPr id="13" name="TextBox 12"/>
          <p:cNvSpPr txBox="1"/>
          <p:nvPr/>
        </p:nvSpPr>
        <p:spPr>
          <a:xfrm>
            <a:off x="2859405" y="3759590"/>
            <a:ext cx="1971852" cy="386861"/>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[Thành viên]</a:t>
            </a:r>
          </a:p>
        </p:txBody>
      </p:sp>
      <p:sp>
        <p:nvSpPr>
          <p:cNvPr id="14" name="Rounded Rectangle 13"/>
          <p:cNvSpPr/>
          <p:nvPr/>
        </p:nvSpPr>
        <p:spPr>
          <a:xfrm>
            <a:off x="5046929" y="2308860"/>
            <a:ext cx="2095093" cy="1934307"/>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784986" y="1370720"/>
            <a:ext cx="618978" cy="61897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200" b="1" i="0">
                <a:solidFill>
                  <a:srgbClr val="FFFFFF"/>
                </a:solidFill>
                <a:latin typeface="Arial"/>
              </a:rPr>
              <a:t>3</a:t>
            </a:r>
          </a:p>
        </p:txBody>
      </p:sp>
      <p:sp>
        <p:nvSpPr>
          <p:cNvPr id="16" name="TextBox 15"/>
          <p:cNvSpPr txBox="1"/>
          <p:nvPr/>
        </p:nvSpPr>
        <p:spPr>
          <a:xfrm>
            <a:off x="5108549" y="2405575"/>
            <a:ext cx="1971852" cy="338503"/>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Tuần …</a:t>
            </a:r>
          </a:p>
        </p:txBody>
      </p:sp>
      <p:sp>
        <p:nvSpPr>
          <p:cNvPr id="17" name="TextBox 16"/>
          <p:cNvSpPr txBox="1"/>
          <p:nvPr/>
        </p:nvSpPr>
        <p:spPr>
          <a:xfrm>
            <a:off x="5108549" y="2744079"/>
            <a:ext cx="1971852" cy="967153"/>
          </a:xfrm>
          <a:prstGeom prst="rect">
            <a:avLst/>
          </a:prstGeom>
          <a:noFill/>
        </p:spPr>
        <p:txBody>
          <a:bodyPr wrap="square" lIns="0" tIns="0" rIns="0" bIns="0" anchor="t">
            <a:spAutoFit/>
          </a:bodyPr>
          <a:lstStyle/>
          <a:p>
            <a:pPr algn="ctr">
              <a:spcAft>
                <a:spcPts val="600"/>
              </a:spcAft>
            </a:pPr>
            <a:r>
              <a:rPr sz="1500" b="1" i="0">
                <a:solidFill>
                  <a:srgbClr val="1C1C1C"/>
                </a:solidFill>
                <a:latin typeface="Arial"/>
              </a:rPr>
              <a:t>Lọc cộng tác, content-based</a:t>
            </a:r>
          </a:p>
        </p:txBody>
      </p:sp>
      <p:sp>
        <p:nvSpPr>
          <p:cNvPr id="18" name="TextBox 17"/>
          <p:cNvSpPr txBox="1"/>
          <p:nvPr/>
        </p:nvSpPr>
        <p:spPr>
          <a:xfrm>
            <a:off x="5108549" y="3759590"/>
            <a:ext cx="1971852" cy="386861"/>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[Thành viên]</a:t>
            </a:r>
          </a:p>
        </p:txBody>
      </p:sp>
      <p:sp>
        <p:nvSpPr>
          <p:cNvPr id="19" name="Rounded Rectangle 18"/>
          <p:cNvSpPr/>
          <p:nvPr/>
        </p:nvSpPr>
        <p:spPr>
          <a:xfrm>
            <a:off x="7296073" y="2308860"/>
            <a:ext cx="2095093" cy="1934307"/>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34131" y="1370720"/>
            <a:ext cx="618978" cy="61897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200" b="1" i="0">
                <a:solidFill>
                  <a:srgbClr val="FFFFFF"/>
                </a:solidFill>
                <a:latin typeface="Arial"/>
              </a:rPr>
              <a:t>4</a:t>
            </a:r>
          </a:p>
        </p:txBody>
      </p:sp>
      <p:sp>
        <p:nvSpPr>
          <p:cNvPr id="21" name="TextBox 20"/>
          <p:cNvSpPr txBox="1"/>
          <p:nvPr/>
        </p:nvSpPr>
        <p:spPr>
          <a:xfrm>
            <a:off x="7357694" y="2405575"/>
            <a:ext cx="1971852" cy="338503"/>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Tuần …</a:t>
            </a:r>
          </a:p>
        </p:txBody>
      </p:sp>
      <p:sp>
        <p:nvSpPr>
          <p:cNvPr id="22" name="TextBox 21"/>
          <p:cNvSpPr txBox="1"/>
          <p:nvPr/>
        </p:nvSpPr>
        <p:spPr>
          <a:xfrm>
            <a:off x="7357694" y="2744079"/>
            <a:ext cx="1971852" cy="967153"/>
          </a:xfrm>
          <a:prstGeom prst="rect">
            <a:avLst/>
          </a:prstGeom>
          <a:noFill/>
        </p:spPr>
        <p:txBody>
          <a:bodyPr wrap="square" lIns="0" tIns="0" rIns="0" bIns="0" anchor="t">
            <a:spAutoFit/>
          </a:bodyPr>
          <a:lstStyle/>
          <a:p>
            <a:pPr algn="ctr">
              <a:spcAft>
                <a:spcPts val="600"/>
              </a:spcAft>
            </a:pPr>
            <a:r>
              <a:rPr sz="1500" b="1" i="0">
                <a:solidFill>
                  <a:srgbClr val="1C1C1C"/>
                </a:solidFill>
                <a:latin typeface="Arial"/>
              </a:rPr>
              <a:t>Hybrid và đánh giá</a:t>
            </a:r>
          </a:p>
        </p:txBody>
      </p:sp>
      <p:sp>
        <p:nvSpPr>
          <p:cNvPr id="23" name="TextBox 22"/>
          <p:cNvSpPr txBox="1"/>
          <p:nvPr/>
        </p:nvSpPr>
        <p:spPr>
          <a:xfrm>
            <a:off x="7357694" y="3759590"/>
            <a:ext cx="1971852" cy="386861"/>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[Thành viên]</a:t>
            </a:r>
          </a:p>
        </p:txBody>
      </p:sp>
      <p:sp>
        <p:nvSpPr>
          <p:cNvPr id="24" name="Rounded Rectangle 23"/>
          <p:cNvSpPr/>
          <p:nvPr/>
        </p:nvSpPr>
        <p:spPr>
          <a:xfrm>
            <a:off x="9545218" y="2308860"/>
            <a:ext cx="2095093" cy="1934307"/>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83275" y="1370720"/>
            <a:ext cx="618978" cy="61897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2200" b="1" i="0">
                <a:solidFill>
                  <a:srgbClr val="FFFFFF"/>
                </a:solidFill>
                <a:latin typeface="Arial"/>
              </a:rPr>
              <a:t>5</a:t>
            </a:r>
          </a:p>
        </p:txBody>
      </p:sp>
      <p:sp>
        <p:nvSpPr>
          <p:cNvPr id="26" name="TextBox 25"/>
          <p:cNvSpPr txBox="1"/>
          <p:nvPr/>
        </p:nvSpPr>
        <p:spPr>
          <a:xfrm>
            <a:off x="9606838" y="2405575"/>
            <a:ext cx="1971852" cy="338503"/>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Tuần …</a:t>
            </a:r>
          </a:p>
        </p:txBody>
      </p:sp>
      <p:sp>
        <p:nvSpPr>
          <p:cNvPr id="27" name="TextBox 26"/>
          <p:cNvSpPr txBox="1"/>
          <p:nvPr/>
        </p:nvSpPr>
        <p:spPr>
          <a:xfrm>
            <a:off x="9606838" y="2744079"/>
            <a:ext cx="1971852" cy="967153"/>
          </a:xfrm>
          <a:prstGeom prst="rect">
            <a:avLst/>
          </a:prstGeom>
          <a:noFill/>
        </p:spPr>
        <p:txBody>
          <a:bodyPr wrap="square" lIns="0" tIns="0" rIns="0" bIns="0" anchor="t">
            <a:spAutoFit/>
          </a:bodyPr>
          <a:lstStyle/>
          <a:p>
            <a:pPr algn="ctr">
              <a:spcAft>
                <a:spcPts val="600"/>
              </a:spcAft>
            </a:pPr>
            <a:r>
              <a:rPr sz="1500" b="1" i="0">
                <a:solidFill>
                  <a:srgbClr val="1C1C1C"/>
                </a:solidFill>
                <a:latin typeface="Arial"/>
              </a:rPr>
              <a:t>Demo và báo cáo</a:t>
            </a:r>
          </a:p>
        </p:txBody>
      </p:sp>
      <p:sp>
        <p:nvSpPr>
          <p:cNvPr id="28" name="TextBox 27"/>
          <p:cNvSpPr txBox="1"/>
          <p:nvPr/>
        </p:nvSpPr>
        <p:spPr>
          <a:xfrm>
            <a:off x="9606838" y="3759590"/>
            <a:ext cx="1971852" cy="386861"/>
          </a:xfrm>
          <a:prstGeom prst="rect">
            <a:avLst/>
          </a:prstGeom>
          <a:noFill/>
        </p:spPr>
        <p:txBody>
          <a:bodyPr wrap="square" lIns="0" tIns="0" rIns="0" bIns="0" anchor="t">
            <a:spAutoFit/>
          </a:bodyPr>
          <a:lstStyle/>
          <a:p>
            <a:pPr algn="ctr">
              <a:spcAft>
                <a:spcPts val="600"/>
              </a:spcAft>
            </a:pPr>
            <a:r>
              <a:rPr sz="1300" b="0" i="0">
                <a:solidFill>
                  <a:srgbClr val="5F636B"/>
                </a:solidFill>
                <a:latin typeface="Arial"/>
              </a:rPr>
              <a:t>[Thành viên]</a:t>
            </a:r>
          </a:p>
        </p:txBody>
      </p:sp>
      <p:sp>
        <p:nvSpPr>
          <p:cNvPr id="29" name="Rounded Rectangle 28"/>
          <p:cNvSpPr/>
          <p:nvPr/>
        </p:nvSpPr>
        <p:spPr>
          <a:xfrm>
            <a:off x="548640" y="4581671"/>
            <a:ext cx="11091672" cy="1257300"/>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8362" y="4581671"/>
            <a:ext cx="10352227" cy="1257300"/>
          </a:xfrm>
          <a:prstGeom prst="rect">
            <a:avLst/>
          </a:prstGeom>
          <a:noFill/>
        </p:spPr>
        <p:txBody>
          <a:bodyPr wrap="square" lIns="0" tIns="0" rIns="0" bIns="0" anchor="ctr">
            <a:spAutoFit/>
          </a:bodyPr>
          <a:lstStyle/>
          <a:p>
            <a:pPr algn="l">
              <a:spcAft>
                <a:spcPts val="600"/>
              </a:spcAft>
            </a:pPr>
            <a:r>
              <a:rPr sz="1600" b="1" i="0">
                <a:solidFill>
                  <a:srgbClr val="1C1C1C"/>
                </a:solidFill>
                <a:latin typeface="Arial"/>
              </a:rPr>
              <a:t>Sản phẩm cuối kỳ: </a:t>
            </a:r>
            <a:r>
              <a:rPr sz="1600" b="0" i="0">
                <a:solidFill>
                  <a:srgbClr val="1C1C1C"/>
                </a:solidFill>
                <a:latin typeface="Arial"/>
              </a:rPr>
              <a:t>mã nguồn, file hướng dẫn chạy (readme), báo cáo PDF, bài trình bày khoảng 15 phút và hệ thống demo.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54864"/>
            <a:ext cx="11091672" cy="566928"/>
          </a:xfrm>
          <a:prstGeom prst="rect">
            <a:avLst/>
          </a:prstGeom>
          <a:noFill/>
        </p:spPr>
        <p:txBody>
          <a:bodyPr wrap="square" lIns="0" tIns="0" rIns="0" bIns="0" anchor="ctr">
            <a:spAutoFit/>
          </a:bodyPr>
          <a:lstStyle/>
          <a:p>
            <a:pPr algn="l">
              <a:spcAft>
                <a:spcPts val="0"/>
              </a:spcAft>
            </a:pPr>
            <a:r>
              <a:rPr sz="2600" b="1" i="0">
                <a:solidFill>
                  <a:srgbClr val="FFFFFF"/>
                </a:solidFill>
                <a:latin typeface="Arial"/>
              </a:rPr>
              <a:t>Tài liệu tham khảo</a:t>
            </a:r>
          </a:p>
        </p:txBody>
      </p:sp>
      <p:sp>
        <p:nvSpPr>
          <p:cNvPr id="3" name="References"/>
          <p:cNvSpPr txBox="1"/>
          <p:nvPr/>
        </p:nvSpPr>
        <p:spPr>
          <a:xfrm>
            <a:off x="548640" y="1097280"/>
            <a:ext cx="11091672" cy="4937760"/>
          </a:xfrm>
          <a:prstGeom prst="rect">
            <a:avLst/>
          </a:prstGeom>
          <a:noFill/>
        </p:spPr>
        <p:txBody>
          <a:bodyPr wrap="square" lIns="0" tIns="0" rIns="0" bIns="0" anchor="t">
            <a:spAutoFit/>
          </a:bodyPr>
          <a:lstStyle/>
          <a:p>
            <a:pPr marL="502920" indent="-502920" algn="l">
              <a:spcAft>
                <a:spcPts val="1000"/>
              </a:spcAft>
            </a:pPr>
            <a:r>
              <a:rPr sz="1600" b="0" i="0">
                <a:solidFill>
                  <a:srgbClr val="1C1C1C"/>
                </a:solidFill>
                <a:latin typeface="Arial"/>
              </a:rPr>
              <a:t>[1]	F. M. Harper and J. A. Konstan, “The MovieLens datasets: History and context,” </a:t>
            </a:r>
            <a:r>
              <a:rPr sz="1600" b="0" i="1">
                <a:solidFill>
                  <a:srgbClr val="1C1C1C"/>
                </a:solidFill>
                <a:latin typeface="Arial"/>
              </a:rPr>
              <a:t>ACM Trans. Interact. Intell. Syst.</a:t>
            </a:r>
            <a:r>
              <a:rPr sz="1600" b="0" i="0">
                <a:solidFill>
                  <a:srgbClr val="1C1C1C"/>
                </a:solidFill>
                <a:latin typeface="Arial"/>
              </a:rPr>
              <a:t>, vol. 5, no. 4, Art. no. 19, pp. 1–19, Dec. 2015, doi: 10.1145/2827872.</a:t>
            </a:r>
          </a:p>
          <a:p>
            <a:pPr marL="502920" indent="-502920" algn="l">
              <a:spcAft>
                <a:spcPts val="1000"/>
              </a:spcAft>
            </a:pPr>
            <a:r>
              <a:rPr sz="1600" b="0" i="0">
                <a:solidFill>
                  <a:srgbClr val="1C1C1C"/>
                </a:solidFill>
                <a:latin typeface="Arial"/>
              </a:rPr>
              <a:t>[2]	Y. Koren, R. Bell, and C. Volinsky, “Matrix factorization techniques for recommender systems,” </a:t>
            </a:r>
            <a:r>
              <a:rPr sz="1600" b="0" i="1">
                <a:solidFill>
                  <a:srgbClr val="1C1C1C"/>
                </a:solidFill>
                <a:latin typeface="Arial"/>
              </a:rPr>
              <a:t>Computer</a:t>
            </a:r>
            <a:r>
              <a:rPr sz="1600" b="0" i="0">
                <a:solidFill>
                  <a:srgbClr val="1C1C1C"/>
                </a:solidFill>
                <a:latin typeface="Arial"/>
              </a:rPr>
              <a:t>, vol. 42, no. 8, pp. 30–37, Aug. 2009, doi: 10.1109/MC.2009.263.</a:t>
            </a:r>
          </a:p>
          <a:p>
            <a:pPr marL="502920" indent="-502920" algn="l">
              <a:spcAft>
                <a:spcPts val="1000"/>
              </a:spcAft>
            </a:pPr>
            <a:r>
              <a:rPr sz="1600" b="0" i="0">
                <a:solidFill>
                  <a:srgbClr val="1C1C1C"/>
                </a:solidFill>
                <a:latin typeface="Arial"/>
              </a:rPr>
              <a:t>[3]	B. Sarwar, G. Karypis, J. Konstan, and J. Riedl, “Item-based collaborative filtering recommendation algorithms,” in </a:t>
            </a:r>
            <a:r>
              <a:rPr sz="1600" b="0" i="1">
                <a:solidFill>
                  <a:srgbClr val="1C1C1C"/>
                </a:solidFill>
                <a:latin typeface="Arial"/>
              </a:rPr>
              <a:t>Proc. 10th Int. Conf. World Wide Web (WWW)</a:t>
            </a:r>
            <a:r>
              <a:rPr sz="1600" b="0" i="0">
                <a:solidFill>
                  <a:srgbClr val="1C1C1C"/>
                </a:solidFill>
                <a:latin typeface="Arial"/>
              </a:rPr>
              <a:t>, Hong Kong, 2001, pp. 285–295, doi: 10.1145/371920.372071.</a:t>
            </a:r>
          </a:p>
          <a:p>
            <a:pPr marL="502920" indent="-502920" algn="l">
              <a:spcAft>
                <a:spcPts val="1000"/>
              </a:spcAft>
            </a:pPr>
            <a:r>
              <a:rPr sz="1600" b="0" i="0">
                <a:solidFill>
                  <a:srgbClr val="1C1C1C"/>
                </a:solidFill>
                <a:latin typeface="Arial"/>
              </a:rPr>
              <a:t>[4]	H. Steck, “Embarrassingly shallow autoencoders for sparse data,” in </a:t>
            </a:r>
            <a:r>
              <a:rPr sz="1600" b="0" i="1">
                <a:solidFill>
                  <a:srgbClr val="1C1C1C"/>
                </a:solidFill>
                <a:latin typeface="Arial"/>
              </a:rPr>
              <a:t>Proc. World Wide Web Conf. (WWW)</a:t>
            </a:r>
            <a:r>
              <a:rPr sz="1600" b="0" i="0">
                <a:solidFill>
                  <a:srgbClr val="1C1C1C"/>
                </a:solidFill>
                <a:latin typeface="Arial"/>
              </a:rPr>
              <a:t>, San Francisco, CA, USA, 2019, pp. 3251–3257, doi: 10.1145/3308558.3313710.</a:t>
            </a:r>
          </a:p>
          <a:p>
            <a:pPr marL="502920" indent="-502920" algn="l">
              <a:spcAft>
                <a:spcPts val="1000"/>
              </a:spcAft>
            </a:pPr>
            <a:r>
              <a:rPr sz="1600" b="0" i="0">
                <a:solidFill>
                  <a:srgbClr val="1C1C1C"/>
                </a:solidFill>
                <a:latin typeface="Arial"/>
              </a:rPr>
              <a:t>[5]	P. Cremonesi, Y. Koren, and R. Turrin, “Performance of recommender algorithms on top-N recommendation tasks,” in </a:t>
            </a:r>
            <a:r>
              <a:rPr sz="1600" b="0" i="1">
                <a:solidFill>
                  <a:srgbClr val="1C1C1C"/>
                </a:solidFill>
                <a:latin typeface="Arial"/>
              </a:rPr>
              <a:t>Proc. 4th ACM Conf. Recommender Systems (RecSys)</a:t>
            </a:r>
            <a:r>
              <a:rPr sz="1600" b="0" i="0">
                <a:solidFill>
                  <a:srgbClr val="1C1C1C"/>
                </a:solidFill>
                <a:latin typeface="Arial"/>
              </a:rPr>
              <a:t>, Barcelona, Spain, 2010, pp. 39–46, doi: 10.1145/1864708.1864721.</a:t>
            </a:r>
          </a:p>
          <a:p>
            <a:pPr marL="502920" indent="-502920" algn="l">
              <a:spcAft>
                <a:spcPts val="1000"/>
              </a:spcAft>
            </a:pPr>
            <a:r>
              <a:rPr sz="1600" b="0" i="0">
                <a:solidFill>
                  <a:srgbClr val="1C1C1C"/>
                </a:solidFill>
                <a:latin typeface="Arial"/>
              </a:rPr>
              <a:t>[6]	C. C. Aggarwal, </a:t>
            </a:r>
            <a:r>
              <a:rPr sz="1600" b="0" i="1">
                <a:solidFill>
                  <a:srgbClr val="1C1C1C"/>
                </a:solidFill>
                <a:latin typeface="Arial"/>
              </a:rPr>
              <a:t>Recommender Systems: The Textbook</a:t>
            </a:r>
            <a:r>
              <a:rPr sz="1600" b="0" i="0">
                <a:solidFill>
                  <a:srgbClr val="1C1C1C"/>
                </a:solidFill>
                <a:latin typeface="Arial"/>
              </a:rPr>
              <a:t>. Cham, Switzerland: Springer, 2016, doi: 10.1007/978-3-319-29659-3.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5756400" y="2824200"/>
            <a:ext cx="5136480" cy="97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6000" b="1" strike="noStrike" spc="-1">
                <a:solidFill>
                  <a:srgbClr val="C00000"/>
                </a:solidFill>
                <a:latin typeface="Lato"/>
                <a:ea typeface="Lato"/>
              </a:rPr>
              <a:t>THANK YOU !</a:t>
            </a:r>
            <a:endParaRPr lang="en-US" sz="6000" b="0" strike="noStrike" spc="-1">
              <a:latin typeface="Arial"/>
            </a:endParaRPr>
          </a:p>
        </p:txBody>
      </p:sp>
      <p:sp>
        <p:nvSpPr>
          <p:cNvPr id="322" name="TextBox 321"/>
          <p:cNvSpPr txBox="1"/>
          <p:nvPr/>
        </p:nvSpPr>
        <p:spPr>
          <a:xfrm>
            <a:off x="5760720" y="3886200"/>
            <a:ext cx="5138928" cy="548640"/>
          </a:xfrm>
          <a:prstGeom prst="rect">
            <a:avLst/>
          </a:prstGeom>
          <a:noFill/>
        </p:spPr>
        <p:txBody>
          <a:bodyPr wrap="square" lIns="0" tIns="0" rIns="0" bIns="0" anchor="ctr">
            <a:spAutoFit/>
          </a:bodyPr>
          <a:lstStyle/>
          <a:p>
            <a:pPr algn="ctr">
              <a:spcAft>
                <a:spcPts val="600"/>
              </a:spcAft>
            </a:pPr>
            <a:r>
              <a:rPr sz="2400" b="0" i="0">
                <a:solidFill>
                  <a:srgbClr val="5F636B"/>
                </a:solidFill>
                <a:latin typeface="Arial"/>
              </a:rPr>
              <a:t>Hỏi &amp; đáp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TotalTime>
  <Words>2719</Words>
  <Application>Microsoft Office PowerPoint</Application>
  <PresentationFormat>Widescreen</PresentationFormat>
  <Paragraphs>278</Paragraphs>
  <Slides>16</Slides>
  <Notes>16</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16</vt:i4>
      </vt:variant>
    </vt:vector>
  </HeadingPairs>
  <TitlesOfParts>
    <vt:vector size="31" baseType="lpstr">
      <vt:lpstr>Arial</vt:lpstr>
      <vt:lpstr>Calibri</vt:lpstr>
      <vt:lpstr>Cambria</vt:lpstr>
      <vt:lpstr>Courier New</vt:lpstr>
      <vt:lpstr>Lato</vt:lpstr>
      <vt:lpstr>Symbol</vt:lpstr>
      <vt:lpstr>Wingdings</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Phong TT &amp; QTTH</dc:creator>
  <dc:description/>
  <cp:lastModifiedBy>anh Pham</cp:lastModifiedBy>
  <cp:revision>5</cp:revision>
  <dcterms:created xsi:type="dcterms:W3CDTF">2020-12-31T09:57:48Z</dcterms:created>
  <dcterms:modified xsi:type="dcterms:W3CDTF">2026-10-24T06:39:30Z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0x0101004F531634775FD1439D5B67291EFE2AD4</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